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7" r:id="rId2"/>
    <p:sldId id="258" r:id="rId3"/>
    <p:sldId id="259" r:id="rId4"/>
    <p:sldId id="260" r:id="rId5"/>
    <p:sldId id="261" r:id="rId6"/>
    <p:sldId id="262" r:id="rId7"/>
    <p:sldId id="263" r:id="rId8"/>
    <p:sldId id="264" r:id="rId9"/>
    <p:sldId id="265" r:id="rId10"/>
    <p:sldId id="267" r:id="rId11"/>
    <p:sldId id="268" r:id="rId12"/>
    <p:sldId id="269" r:id="rId13"/>
    <p:sldId id="26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40" autoAdjust="0"/>
    <p:restoredTop sz="94660"/>
  </p:normalViewPr>
  <p:slideViewPr>
    <p:cSldViewPr snapToGrid="0">
      <p:cViewPr varScale="1">
        <p:scale>
          <a:sx n="73" d="100"/>
          <a:sy n="73" d="100"/>
        </p:scale>
        <p:origin x="53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oleObject" Target="../embeddings/oleObject1.bin"/><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kumimoji="0" lang="en-US" sz="1400" b="0" i="0" u="none" strike="noStrike" kern="1200" cap="none" spc="0" normalizeH="0" baseline="0" noProof="0">
                <a:ln>
                  <a:noFill/>
                </a:ln>
                <a:solidFill>
                  <a:sysClr val="windowText" lastClr="000000">
                    <a:lumMod val="65000"/>
                    <a:lumOff val="35000"/>
                  </a:sysClr>
                </a:solidFill>
                <a:effectLst/>
                <a:uLnTx/>
                <a:uFillTx/>
                <a:latin typeface="Calibri" panose="020F0502020204030204"/>
              </a:rPr>
              <a:t>VALOR ENERGÍA VS VALOR IMPUESTO</a:t>
            </a:r>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'[ANALISIS CAMPOLLO(4044).xlsx]Hoja1 (2)'!$D$4</c:f>
              <c:strCache>
                <c:ptCount val="1"/>
                <c:pt idx="0">
                  <c:v>VALOR ENERGIA</c:v>
                </c:pt>
              </c:strCache>
            </c:strRef>
          </c:tx>
          <c:spPr>
            <a:ln w="28575"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'[ANALISIS CAMPOLLO(4044).xlsx]Hoja1 (2)'!$B$5:$B$19</c:f>
              <c:numCache>
                <c:formatCode>mmm\-yy</c:formatCode>
                <c:ptCount val="15"/>
                <c:pt idx="0">
                  <c:v>43132</c:v>
                </c:pt>
                <c:pt idx="1">
                  <c:v>43160</c:v>
                </c:pt>
                <c:pt idx="2">
                  <c:v>43191</c:v>
                </c:pt>
                <c:pt idx="3">
                  <c:v>43221</c:v>
                </c:pt>
                <c:pt idx="4">
                  <c:v>43252</c:v>
                </c:pt>
                <c:pt idx="5">
                  <c:v>43282</c:v>
                </c:pt>
                <c:pt idx="6">
                  <c:v>43313</c:v>
                </c:pt>
                <c:pt idx="7">
                  <c:v>43344</c:v>
                </c:pt>
                <c:pt idx="8">
                  <c:v>43374</c:v>
                </c:pt>
                <c:pt idx="9">
                  <c:v>43405</c:v>
                </c:pt>
                <c:pt idx="10">
                  <c:v>43435</c:v>
                </c:pt>
                <c:pt idx="11">
                  <c:v>43466</c:v>
                </c:pt>
                <c:pt idx="12">
                  <c:v>43497</c:v>
                </c:pt>
                <c:pt idx="13">
                  <c:v>43525</c:v>
                </c:pt>
                <c:pt idx="14">
                  <c:v>43556</c:v>
                </c:pt>
              </c:numCache>
            </c:numRef>
          </c:cat>
          <c:val>
            <c:numRef>
              <c:f>'[ANALISIS CAMPOLLO(4044).xlsx]Hoja1 (2)'!$D$5:$D$19</c:f>
              <c:numCache>
                <c:formatCode>_("$"* #,##0_);_("$"* \(#,##0\);_("$"* "-"_);_(@_)</c:formatCode>
                <c:ptCount val="15"/>
                <c:pt idx="0">
                  <c:v>802965840</c:v>
                </c:pt>
                <c:pt idx="1">
                  <c:v>537923640</c:v>
                </c:pt>
                <c:pt idx="2">
                  <c:v>620746800</c:v>
                </c:pt>
                <c:pt idx="3">
                  <c:v>753824640</c:v>
                </c:pt>
                <c:pt idx="4">
                  <c:v>715235160</c:v>
                </c:pt>
                <c:pt idx="5">
                  <c:v>612284040</c:v>
                </c:pt>
                <c:pt idx="6">
                  <c:v>634022340</c:v>
                </c:pt>
                <c:pt idx="7">
                  <c:v>673204800</c:v>
                </c:pt>
                <c:pt idx="8">
                  <c:v>639186360</c:v>
                </c:pt>
                <c:pt idx="9">
                  <c:v>668648160</c:v>
                </c:pt>
                <c:pt idx="10">
                  <c:v>774302640</c:v>
                </c:pt>
                <c:pt idx="11">
                  <c:v>684436320</c:v>
                </c:pt>
                <c:pt idx="12">
                  <c:v>623334240</c:v>
                </c:pt>
                <c:pt idx="13">
                  <c:v>628521060</c:v>
                </c:pt>
                <c:pt idx="14">
                  <c:v>651194940</c:v>
                </c:pt>
              </c:numCache>
            </c:numRef>
          </c:val>
          <c:smooth val="0"/>
          <c:extLst>
            <c:ext xmlns:c16="http://schemas.microsoft.com/office/drawing/2014/chart" uri="{C3380CC4-5D6E-409C-BE32-E72D297353CC}">
              <c16:uniqueId val="{00000000-FE69-4540-BF6E-C3B7B6D81BC5}"/>
            </c:ext>
          </c:extLst>
        </c:ser>
        <c:ser>
          <c:idx val="1"/>
          <c:order val="1"/>
          <c:tx>
            <c:strRef>
              <c:f>'[ANALISIS CAMPOLLO(4044).xlsx]Hoja1 (2)'!$E$4</c:f>
              <c:strCache>
                <c:ptCount val="1"/>
                <c:pt idx="0">
                  <c:v> VALOR IMPUESTO</c:v>
                </c:pt>
              </c:strCache>
            </c:strRef>
          </c:tx>
          <c:spPr>
            <a:ln w="28575" cap="rnd">
              <a:solidFill>
                <a:schemeClr val="accent2"/>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'[ANALISIS CAMPOLLO(4044).xlsx]Hoja1 (2)'!$B$5:$B$19</c:f>
              <c:numCache>
                <c:formatCode>mmm\-yy</c:formatCode>
                <c:ptCount val="15"/>
                <c:pt idx="0">
                  <c:v>43132</c:v>
                </c:pt>
                <c:pt idx="1">
                  <c:v>43160</c:v>
                </c:pt>
                <c:pt idx="2">
                  <c:v>43191</c:v>
                </c:pt>
                <c:pt idx="3">
                  <c:v>43221</c:v>
                </c:pt>
                <c:pt idx="4">
                  <c:v>43252</c:v>
                </c:pt>
                <c:pt idx="5">
                  <c:v>43282</c:v>
                </c:pt>
                <c:pt idx="6">
                  <c:v>43313</c:v>
                </c:pt>
                <c:pt idx="7">
                  <c:v>43344</c:v>
                </c:pt>
                <c:pt idx="8">
                  <c:v>43374</c:v>
                </c:pt>
                <c:pt idx="9">
                  <c:v>43405</c:v>
                </c:pt>
                <c:pt idx="10">
                  <c:v>43435</c:v>
                </c:pt>
                <c:pt idx="11">
                  <c:v>43466</c:v>
                </c:pt>
                <c:pt idx="12">
                  <c:v>43497</c:v>
                </c:pt>
                <c:pt idx="13">
                  <c:v>43525</c:v>
                </c:pt>
                <c:pt idx="14">
                  <c:v>43556</c:v>
                </c:pt>
              </c:numCache>
            </c:numRef>
          </c:cat>
          <c:val>
            <c:numRef>
              <c:f>'[ANALISIS CAMPOLLO(4044).xlsx]Hoja1 (2)'!$E$5:$E$19</c:f>
              <c:numCache>
                <c:formatCode>_("$"* #,##0_);_("$"* \(#,##0\);_("$"* "-"_);_(@_)</c:formatCode>
                <c:ptCount val="15"/>
                <c:pt idx="0">
                  <c:v>96355900.799999997</c:v>
                </c:pt>
                <c:pt idx="1">
                  <c:v>64550836.799999997</c:v>
                </c:pt>
                <c:pt idx="2">
                  <c:v>74489616</c:v>
                </c:pt>
                <c:pt idx="3">
                  <c:v>90458956.799999997</c:v>
                </c:pt>
                <c:pt idx="4">
                  <c:v>85828219.200000003</c:v>
                </c:pt>
                <c:pt idx="5">
                  <c:v>73474084.799999997</c:v>
                </c:pt>
                <c:pt idx="6">
                  <c:v>76082680.799999997</c:v>
                </c:pt>
                <c:pt idx="7">
                  <c:v>80784576</c:v>
                </c:pt>
                <c:pt idx="8">
                  <c:v>76702363.200000003</c:v>
                </c:pt>
                <c:pt idx="9">
                  <c:v>80237779.200000003</c:v>
                </c:pt>
                <c:pt idx="10">
                  <c:v>92916316.799999997</c:v>
                </c:pt>
                <c:pt idx="11">
                  <c:v>82132358.399999991</c:v>
                </c:pt>
                <c:pt idx="12">
                  <c:v>74800108.799999997</c:v>
                </c:pt>
                <c:pt idx="13">
                  <c:v>75422527.200000003</c:v>
                </c:pt>
                <c:pt idx="14">
                  <c:v>78143392.799999997</c:v>
                </c:pt>
              </c:numCache>
            </c:numRef>
          </c:val>
          <c:smooth val="0"/>
          <c:extLst>
            <c:ext xmlns:c16="http://schemas.microsoft.com/office/drawing/2014/chart" uri="{C3380CC4-5D6E-409C-BE32-E72D297353CC}">
              <c16:uniqueId val="{00000001-FE69-4540-BF6E-C3B7B6D81BC5}"/>
            </c:ext>
          </c:extLst>
        </c:ser>
        <c:dLbls>
          <c:dLblPos val="ctr"/>
          <c:showLegendKey val="0"/>
          <c:showVal val="1"/>
          <c:showCatName val="0"/>
          <c:showSerName val="0"/>
          <c:showPercent val="0"/>
          <c:showBubbleSize val="0"/>
        </c:dLbls>
        <c:smooth val="0"/>
        <c:axId val="1325674512"/>
        <c:axId val="1325653712"/>
      </c:lineChart>
      <c:dateAx>
        <c:axId val="1325674512"/>
        <c:scaling>
          <c:orientation val="minMax"/>
        </c:scaling>
        <c:delete val="0"/>
        <c:axPos val="b"/>
        <c:numFmt formatCode="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25653712"/>
        <c:crosses val="autoZero"/>
        <c:auto val="1"/>
        <c:lblOffset val="100"/>
        <c:baseTimeUnit val="months"/>
      </c:dateAx>
      <c:valAx>
        <c:axId val="1325653712"/>
        <c:scaling>
          <c:orientation val="minMax"/>
        </c:scaling>
        <c:delete val="0"/>
        <c:axPos val="l"/>
        <c:majorGridlines>
          <c:spPr>
            <a:ln w="9525" cap="flat" cmpd="sng" algn="ctr">
              <a:solidFill>
                <a:schemeClr val="tx1">
                  <a:lumMod val="15000"/>
                  <a:lumOff val="85000"/>
                </a:schemeClr>
              </a:solidFill>
              <a:round/>
            </a:ln>
            <a:effectLst/>
          </c:spPr>
        </c:majorGridlines>
        <c:numFmt formatCode="_(&quot;$&quot;* #,##0_);_(&quot;$&quot;* \(#,##0\);_(&quot;$&quot;*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25674512"/>
        <c:crosses val="autoZero"/>
        <c:crossBetween val="between"/>
        <c:dispUnits>
          <c:builtInUnit val="millions"/>
          <c:dispUnitsLbl>
            <c:layout/>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dispUnitsLbl>
        </c:dispUnits>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_rels/vmlDrawing1.vml.rels><?xml version="1.0" encoding="UTF-8" standalone="yes"?>
<Relationships xmlns="http://schemas.openxmlformats.org/package/2006/relationships"><Relationship Id="rId1" Type="http://schemas.openxmlformats.org/officeDocument/2006/relationships/image" Target="../media/image8.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8D8649-07A8-49AB-A00C-BA9B47E23581}" type="datetimeFigureOut">
              <a:rPr lang="en-US" smtClean="0"/>
              <a:t>1/22/2020</a:t>
            </a:fld>
            <a:endParaRPr lang="en-U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72408C-8AE9-461F-9A84-E7A4B0FCEE7A}" type="slidenum">
              <a:rPr lang="en-US" smtClean="0"/>
              <a:t>‹Nº›</a:t>
            </a:fld>
            <a:endParaRPr lang="en-US"/>
          </a:p>
        </p:txBody>
      </p:sp>
    </p:spTree>
    <p:extLst>
      <p:ext uri="{BB962C8B-B14F-4D97-AF65-F5344CB8AC3E}">
        <p14:creationId xmlns:p14="http://schemas.microsoft.com/office/powerpoint/2010/main" val="1428614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1C72408C-8AE9-461F-9A84-E7A4B0FCEE7A}" type="slidenum">
              <a:rPr lang="en-US" smtClean="0"/>
              <a:t>7</a:t>
            </a:fld>
            <a:endParaRPr lang="en-US"/>
          </a:p>
        </p:txBody>
      </p:sp>
    </p:spTree>
    <p:extLst>
      <p:ext uri="{BB962C8B-B14F-4D97-AF65-F5344CB8AC3E}">
        <p14:creationId xmlns:p14="http://schemas.microsoft.com/office/powerpoint/2010/main" val="32128473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1C72408C-8AE9-461F-9A84-E7A4B0FCEE7A}" type="slidenum">
              <a:rPr lang="en-US" smtClean="0"/>
              <a:t>8</a:t>
            </a:fld>
            <a:endParaRPr lang="en-US"/>
          </a:p>
        </p:txBody>
      </p:sp>
    </p:spTree>
    <p:extLst>
      <p:ext uri="{BB962C8B-B14F-4D97-AF65-F5344CB8AC3E}">
        <p14:creationId xmlns:p14="http://schemas.microsoft.com/office/powerpoint/2010/main" val="25975537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smtClean="0"/>
              <a:t>Haga clic para modificar el estilo de título del patrón</a:t>
            </a:r>
            <a:endParaRPr lang="en-US"/>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editar el estilo de subtítulo del patrón</a:t>
            </a:r>
            <a:endParaRPr lang="en-US"/>
          </a:p>
        </p:txBody>
      </p:sp>
      <p:sp>
        <p:nvSpPr>
          <p:cNvPr id="4" name="Marcador de fecha 3"/>
          <p:cNvSpPr>
            <a:spLocks noGrp="1"/>
          </p:cNvSpPr>
          <p:nvPr>
            <p:ph type="dt" sz="half" idx="10"/>
          </p:nvPr>
        </p:nvSpPr>
        <p:spPr/>
        <p:txBody>
          <a:bodyPr/>
          <a:lstStyle/>
          <a:p>
            <a:fld id="{BE4F1226-9693-42D0-A54D-87545176F087}" type="datetimeFigureOut">
              <a:rPr lang="en-US" smtClean="0"/>
              <a:t>1/22/2020</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59DB0849-2AD4-4A64-90E7-566131E15B71}" type="slidenum">
              <a:rPr lang="en-US" smtClean="0"/>
              <a:t>‹Nº›</a:t>
            </a:fld>
            <a:endParaRPr lang="en-US"/>
          </a:p>
        </p:txBody>
      </p:sp>
    </p:spTree>
    <p:extLst>
      <p:ext uri="{BB962C8B-B14F-4D97-AF65-F5344CB8AC3E}">
        <p14:creationId xmlns:p14="http://schemas.microsoft.com/office/powerpoint/2010/main" val="35695693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n-US"/>
          </a:p>
        </p:txBody>
      </p:sp>
      <p:sp>
        <p:nvSpPr>
          <p:cNvPr id="3" name="Marcador de contenido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Marcador de fecha 3"/>
          <p:cNvSpPr>
            <a:spLocks noGrp="1"/>
          </p:cNvSpPr>
          <p:nvPr>
            <p:ph type="dt" sz="half" idx="10"/>
          </p:nvPr>
        </p:nvSpPr>
        <p:spPr/>
        <p:txBody>
          <a:bodyPr/>
          <a:lstStyle/>
          <a:p>
            <a:fld id="{BE4F1226-9693-42D0-A54D-87545176F087}" type="datetimeFigureOut">
              <a:rPr lang="en-US" smtClean="0"/>
              <a:t>1/22/2020</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59DB0849-2AD4-4A64-90E7-566131E15B71}" type="slidenum">
              <a:rPr lang="en-US" smtClean="0"/>
              <a:t>‹Nº›</a:t>
            </a:fld>
            <a:endParaRPr lang="en-US"/>
          </a:p>
        </p:txBody>
      </p:sp>
    </p:spTree>
    <p:extLst>
      <p:ext uri="{BB962C8B-B14F-4D97-AF65-F5344CB8AC3E}">
        <p14:creationId xmlns:p14="http://schemas.microsoft.com/office/powerpoint/2010/main" val="17177707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n-US"/>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Editar el estilo de texto del patrón</a:t>
            </a:r>
          </a:p>
        </p:txBody>
      </p:sp>
      <p:sp>
        <p:nvSpPr>
          <p:cNvPr id="4" name="Marcador de fecha 3"/>
          <p:cNvSpPr>
            <a:spLocks noGrp="1"/>
          </p:cNvSpPr>
          <p:nvPr>
            <p:ph type="dt" sz="half" idx="10"/>
          </p:nvPr>
        </p:nvSpPr>
        <p:spPr/>
        <p:txBody>
          <a:bodyPr/>
          <a:lstStyle/>
          <a:p>
            <a:fld id="{BE4F1226-9693-42D0-A54D-87545176F087}" type="datetimeFigureOut">
              <a:rPr lang="en-US" smtClean="0"/>
              <a:t>1/22/2020</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59DB0849-2AD4-4A64-90E7-566131E15B71}" type="slidenum">
              <a:rPr lang="en-US" smtClean="0"/>
              <a:t>‹Nº›</a:t>
            </a:fld>
            <a:endParaRPr lang="en-US"/>
          </a:p>
        </p:txBody>
      </p:sp>
    </p:spTree>
    <p:extLst>
      <p:ext uri="{BB962C8B-B14F-4D97-AF65-F5344CB8AC3E}">
        <p14:creationId xmlns:p14="http://schemas.microsoft.com/office/powerpoint/2010/main" val="4248567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n-US"/>
          </a:p>
        </p:txBody>
      </p:sp>
      <p:sp>
        <p:nvSpPr>
          <p:cNvPr id="3" name="Marcador de contenido 2"/>
          <p:cNvSpPr>
            <a:spLocks noGrp="1"/>
          </p:cNvSpPr>
          <p:nvPr>
            <p:ph sz="half" idx="1"/>
          </p:nvPr>
        </p:nvSpPr>
        <p:spPr>
          <a:xfrm>
            <a:off x="838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Marcador de contenido 3"/>
          <p:cNvSpPr>
            <a:spLocks noGrp="1"/>
          </p:cNvSpPr>
          <p:nvPr>
            <p:ph sz="half" idx="2"/>
          </p:nvPr>
        </p:nvSpPr>
        <p:spPr>
          <a:xfrm>
            <a:off x="6172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5" name="Marcador de fecha 4"/>
          <p:cNvSpPr>
            <a:spLocks noGrp="1"/>
          </p:cNvSpPr>
          <p:nvPr>
            <p:ph type="dt" sz="half" idx="10"/>
          </p:nvPr>
        </p:nvSpPr>
        <p:spPr/>
        <p:txBody>
          <a:bodyPr/>
          <a:lstStyle/>
          <a:p>
            <a:fld id="{BE4F1226-9693-42D0-A54D-87545176F087}" type="datetimeFigureOut">
              <a:rPr lang="en-US" smtClean="0"/>
              <a:t>1/22/2020</a:t>
            </a:fld>
            <a:endParaRPr lang="en-US"/>
          </a:p>
        </p:txBody>
      </p:sp>
      <p:sp>
        <p:nvSpPr>
          <p:cNvPr id="6" name="Marcador de pie de página 5"/>
          <p:cNvSpPr>
            <a:spLocks noGrp="1"/>
          </p:cNvSpPr>
          <p:nvPr>
            <p:ph type="ftr" sz="quarter" idx="11"/>
          </p:nvPr>
        </p:nvSpPr>
        <p:spPr/>
        <p:txBody>
          <a:bodyPr/>
          <a:lstStyle/>
          <a:p>
            <a:endParaRPr lang="en-US"/>
          </a:p>
        </p:txBody>
      </p:sp>
      <p:sp>
        <p:nvSpPr>
          <p:cNvPr id="7" name="Marcador de número de diapositiva 6"/>
          <p:cNvSpPr>
            <a:spLocks noGrp="1"/>
          </p:cNvSpPr>
          <p:nvPr>
            <p:ph type="sldNum" sz="quarter" idx="12"/>
          </p:nvPr>
        </p:nvSpPr>
        <p:spPr/>
        <p:txBody>
          <a:bodyPr/>
          <a:lstStyle/>
          <a:p>
            <a:fld id="{59DB0849-2AD4-4A64-90E7-566131E15B71}" type="slidenum">
              <a:rPr lang="en-US" smtClean="0"/>
              <a:t>‹Nº›</a:t>
            </a:fld>
            <a:endParaRPr lang="en-US"/>
          </a:p>
        </p:txBody>
      </p:sp>
    </p:spTree>
    <p:extLst>
      <p:ext uri="{BB962C8B-B14F-4D97-AF65-F5344CB8AC3E}">
        <p14:creationId xmlns:p14="http://schemas.microsoft.com/office/powerpoint/2010/main" val="41329136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smtClean="0"/>
              <a:t>Haga clic para modificar el estilo de título del patrón</a:t>
            </a:r>
            <a:endParaRPr lang="en-US"/>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7" name="Marcador de fecha 6"/>
          <p:cNvSpPr>
            <a:spLocks noGrp="1"/>
          </p:cNvSpPr>
          <p:nvPr>
            <p:ph type="dt" sz="half" idx="10"/>
          </p:nvPr>
        </p:nvSpPr>
        <p:spPr/>
        <p:txBody>
          <a:bodyPr/>
          <a:lstStyle/>
          <a:p>
            <a:fld id="{BE4F1226-9693-42D0-A54D-87545176F087}" type="datetimeFigureOut">
              <a:rPr lang="en-US" smtClean="0"/>
              <a:t>1/22/2020</a:t>
            </a:fld>
            <a:endParaRPr lang="en-US"/>
          </a:p>
        </p:txBody>
      </p:sp>
      <p:sp>
        <p:nvSpPr>
          <p:cNvPr id="8" name="Marcador de pie de página 7"/>
          <p:cNvSpPr>
            <a:spLocks noGrp="1"/>
          </p:cNvSpPr>
          <p:nvPr>
            <p:ph type="ftr" sz="quarter" idx="11"/>
          </p:nvPr>
        </p:nvSpPr>
        <p:spPr/>
        <p:txBody>
          <a:bodyPr/>
          <a:lstStyle/>
          <a:p>
            <a:endParaRPr lang="en-US"/>
          </a:p>
        </p:txBody>
      </p:sp>
      <p:sp>
        <p:nvSpPr>
          <p:cNvPr id="9" name="Marcador de número de diapositiva 8"/>
          <p:cNvSpPr>
            <a:spLocks noGrp="1"/>
          </p:cNvSpPr>
          <p:nvPr>
            <p:ph type="sldNum" sz="quarter" idx="12"/>
          </p:nvPr>
        </p:nvSpPr>
        <p:spPr/>
        <p:txBody>
          <a:bodyPr/>
          <a:lstStyle/>
          <a:p>
            <a:fld id="{59DB0849-2AD4-4A64-90E7-566131E15B71}" type="slidenum">
              <a:rPr lang="en-US" smtClean="0"/>
              <a:t>‹Nº›</a:t>
            </a:fld>
            <a:endParaRPr lang="en-US"/>
          </a:p>
        </p:txBody>
      </p:sp>
    </p:spTree>
    <p:extLst>
      <p:ext uri="{BB962C8B-B14F-4D97-AF65-F5344CB8AC3E}">
        <p14:creationId xmlns:p14="http://schemas.microsoft.com/office/powerpoint/2010/main" val="3224600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n-US"/>
          </a:p>
        </p:txBody>
      </p:sp>
      <p:sp>
        <p:nvSpPr>
          <p:cNvPr id="3" name="Marcador de fecha 2"/>
          <p:cNvSpPr>
            <a:spLocks noGrp="1"/>
          </p:cNvSpPr>
          <p:nvPr>
            <p:ph type="dt" sz="half" idx="10"/>
          </p:nvPr>
        </p:nvSpPr>
        <p:spPr/>
        <p:txBody>
          <a:bodyPr/>
          <a:lstStyle/>
          <a:p>
            <a:fld id="{BE4F1226-9693-42D0-A54D-87545176F087}" type="datetimeFigureOut">
              <a:rPr lang="en-US" smtClean="0"/>
              <a:t>1/22/2020</a:t>
            </a:fld>
            <a:endParaRPr lang="en-US"/>
          </a:p>
        </p:txBody>
      </p:sp>
      <p:sp>
        <p:nvSpPr>
          <p:cNvPr id="4" name="Marcador de pie de página 3"/>
          <p:cNvSpPr>
            <a:spLocks noGrp="1"/>
          </p:cNvSpPr>
          <p:nvPr>
            <p:ph type="ftr" sz="quarter" idx="11"/>
          </p:nvPr>
        </p:nvSpPr>
        <p:spPr/>
        <p:txBody>
          <a:bodyPr/>
          <a:lstStyle/>
          <a:p>
            <a:endParaRPr lang="en-US"/>
          </a:p>
        </p:txBody>
      </p:sp>
      <p:sp>
        <p:nvSpPr>
          <p:cNvPr id="5" name="Marcador de número de diapositiva 4"/>
          <p:cNvSpPr>
            <a:spLocks noGrp="1"/>
          </p:cNvSpPr>
          <p:nvPr>
            <p:ph type="sldNum" sz="quarter" idx="12"/>
          </p:nvPr>
        </p:nvSpPr>
        <p:spPr/>
        <p:txBody>
          <a:bodyPr/>
          <a:lstStyle/>
          <a:p>
            <a:fld id="{59DB0849-2AD4-4A64-90E7-566131E15B71}" type="slidenum">
              <a:rPr lang="en-US" smtClean="0"/>
              <a:t>‹Nº›</a:t>
            </a:fld>
            <a:endParaRPr lang="en-US"/>
          </a:p>
        </p:txBody>
      </p:sp>
    </p:spTree>
    <p:extLst>
      <p:ext uri="{BB962C8B-B14F-4D97-AF65-F5344CB8AC3E}">
        <p14:creationId xmlns:p14="http://schemas.microsoft.com/office/powerpoint/2010/main" val="33346819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BE4F1226-9693-42D0-A54D-87545176F087}" type="datetimeFigureOut">
              <a:rPr lang="en-US" smtClean="0"/>
              <a:t>1/22/2020</a:t>
            </a:fld>
            <a:endParaRPr lang="en-US"/>
          </a:p>
        </p:txBody>
      </p:sp>
      <p:sp>
        <p:nvSpPr>
          <p:cNvPr id="3" name="Marcador de pie de página 2"/>
          <p:cNvSpPr>
            <a:spLocks noGrp="1"/>
          </p:cNvSpPr>
          <p:nvPr>
            <p:ph type="ftr" sz="quarter" idx="11"/>
          </p:nvPr>
        </p:nvSpPr>
        <p:spPr/>
        <p:txBody>
          <a:bodyPr/>
          <a:lstStyle/>
          <a:p>
            <a:endParaRPr lang="en-US"/>
          </a:p>
        </p:txBody>
      </p:sp>
      <p:sp>
        <p:nvSpPr>
          <p:cNvPr id="4" name="Marcador de número de diapositiva 3"/>
          <p:cNvSpPr>
            <a:spLocks noGrp="1"/>
          </p:cNvSpPr>
          <p:nvPr>
            <p:ph type="sldNum" sz="quarter" idx="12"/>
          </p:nvPr>
        </p:nvSpPr>
        <p:spPr/>
        <p:txBody>
          <a:bodyPr/>
          <a:lstStyle/>
          <a:p>
            <a:fld id="{59DB0849-2AD4-4A64-90E7-566131E15B71}" type="slidenum">
              <a:rPr lang="en-US" smtClean="0"/>
              <a:t>‹Nº›</a:t>
            </a:fld>
            <a:endParaRPr lang="en-US"/>
          </a:p>
        </p:txBody>
      </p:sp>
    </p:spTree>
    <p:extLst>
      <p:ext uri="{BB962C8B-B14F-4D97-AF65-F5344CB8AC3E}">
        <p14:creationId xmlns:p14="http://schemas.microsoft.com/office/powerpoint/2010/main" val="4384959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n-US"/>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BE4F1226-9693-42D0-A54D-87545176F087}" type="datetimeFigureOut">
              <a:rPr lang="en-US" smtClean="0"/>
              <a:t>1/22/2020</a:t>
            </a:fld>
            <a:endParaRPr lang="en-US"/>
          </a:p>
        </p:txBody>
      </p:sp>
      <p:sp>
        <p:nvSpPr>
          <p:cNvPr id="6" name="Marcador de pie de página 5"/>
          <p:cNvSpPr>
            <a:spLocks noGrp="1"/>
          </p:cNvSpPr>
          <p:nvPr>
            <p:ph type="ftr" sz="quarter" idx="11"/>
          </p:nvPr>
        </p:nvSpPr>
        <p:spPr/>
        <p:txBody>
          <a:bodyPr/>
          <a:lstStyle/>
          <a:p>
            <a:endParaRPr lang="en-US"/>
          </a:p>
        </p:txBody>
      </p:sp>
      <p:sp>
        <p:nvSpPr>
          <p:cNvPr id="7" name="Marcador de número de diapositiva 6"/>
          <p:cNvSpPr>
            <a:spLocks noGrp="1"/>
          </p:cNvSpPr>
          <p:nvPr>
            <p:ph type="sldNum" sz="quarter" idx="12"/>
          </p:nvPr>
        </p:nvSpPr>
        <p:spPr/>
        <p:txBody>
          <a:bodyPr/>
          <a:lstStyle/>
          <a:p>
            <a:fld id="{59DB0849-2AD4-4A64-90E7-566131E15B71}" type="slidenum">
              <a:rPr lang="en-US" smtClean="0"/>
              <a:t>‹Nº›</a:t>
            </a:fld>
            <a:endParaRPr lang="en-US"/>
          </a:p>
        </p:txBody>
      </p:sp>
    </p:spTree>
    <p:extLst>
      <p:ext uri="{BB962C8B-B14F-4D97-AF65-F5344CB8AC3E}">
        <p14:creationId xmlns:p14="http://schemas.microsoft.com/office/powerpoint/2010/main" val="21461015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n-US"/>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BE4F1226-9693-42D0-A54D-87545176F087}" type="datetimeFigureOut">
              <a:rPr lang="en-US" smtClean="0"/>
              <a:t>1/22/2020</a:t>
            </a:fld>
            <a:endParaRPr lang="en-US"/>
          </a:p>
        </p:txBody>
      </p:sp>
      <p:sp>
        <p:nvSpPr>
          <p:cNvPr id="6" name="Marcador de pie de página 5"/>
          <p:cNvSpPr>
            <a:spLocks noGrp="1"/>
          </p:cNvSpPr>
          <p:nvPr>
            <p:ph type="ftr" sz="quarter" idx="11"/>
          </p:nvPr>
        </p:nvSpPr>
        <p:spPr/>
        <p:txBody>
          <a:bodyPr/>
          <a:lstStyle/>
          <a:p>
            <a:endParaRPr lang="en-US"/>
          </a:p>
        </p:txBody>
      </p:sp>
      <p:sp>
        <p:nvSpPr>
          <p:cNvPr id="7" name="Marcador de número de diapositiva 6"/>
          <p:cNvSpPr>
            <a:spLocks noGrp="1"/>
          </p:cNvSpPr>
          <p:nvPr>
            <p:ph type="sldNum" sz="quarter" idx="12"/>
          </p:nvPr>
        </p:nvSpPr>
        <p:spPr/>
        <p:txBody>
          <a:bodyPr/>
          <a:lstStyle/>
          <a:p>
            <a:fld id="{59DB0849-2AD4-4A64-90E7-566131E15B71}" type="slidenum">
              <a:rPr lang="en-US" smtClean="0"/>
              <a:t>‹Nº›</a:t>
            </a:fld>
            <a:endParaRPr lang="en-US"/>
          </a:p>
        </p:txBody>
      </p:sp>
    </p:spTree>
    <p:extLst>
      <p:ext uri="{BB962C8B-B14F-4D97-AF65-F5344CB8AC3E}">
        <p14:creationId xmlns:p14="http://schemas.microsoft.com/office/powerpoint/2010/main" val="1875283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n-US"/>
          </a:p>
        </p:txBody>
      </p:sp>
      <p:sp>
        <p:nvSpPr>
          <p:cNvPr id="3" name="Marcador de texto vertical 2"/>
          <p:cNvSpPr>
            <a:spLocks noGrp="1"/>
          </p:cNvSpPr>
          <p:nvPr>
            <p:ph type="body" orient="vert" idx="1"/>
          </p:nvPr>
        </p:nvSpPr>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Marcador de fecha 3"/>
          <p:cNvSpPr>
            <a:spLocks noGrp="1"/>
          </p:cNvSpPr>
          <p:nvPr>
            <p:ph type="dt" sz="half" idx="10"/>
          </p:nvPr>
        </p:nvSpPr>
        <p:spPr/>
        <p:txBody>
          <a:bodyPr/>
          <a:lstStyle/>
          <a:p>
            <a:fld id="{BE4F1226-9693-42D0-A54D-87545176F087}" type="datetimeFigureOut">
              <a:rPr lang="en-US" smtClean="0"/>
              <a:t>1/22/2020</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59DB0849-2AD4-4A64-90E7-566131E15B71}" type="slidenum">
              <a:rPr lang="en-US" smtClean="0"/>
              <a:t>‹Nº›</a:t>
            </a:fld>
            <a:endParaRPr lang="en-US"/>
          </a:p>
        </p:txBody>
      </p:sp>
    </p:spTree>
    <p:extLst>
      <p:ext uri="{BB962C8B-B14F-4D97-AF65-F5344CB8AC3E}">
        <p14:creationId xmlns:p14="http://schemas.microsoft.com/office/powerpoint/2010/main" val="35525387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n-US"/>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Marcador de fecha 3"/>
          <p:cNvSpPr>
            <a:spLocks noGrp="1"/>
          </p:cNvSpPr>
          <p:nvPr>
            <p:ph type="dt" sz="half" idx="10"/>
          </p:nvPr>
        </p:nvSpPr>
        <p:spPr/>
        <p:txBody>
          <a:bodyPr/>
          <a:lstStyle/>
          <a:p>
            <a:fld id="{BE4F1226-9693-42D0-A54D-87545176F087}" type="datetimeFigureOut">
              <a:rPr lang="en-US" smtClean="0"/>
              <a:t>1/22/2020</a:t>
            </a:fld>
            <a:endParaRPr lang="en-US"/>
          </a:p>
        </p:txBody>
      </p:sp>
      <p:sp>
        <p:nvSpPr>
          <p:cNvPr id="5" name="Marcador de pie de página 4"/>
          <p:cNvSpPr>
            <a:spLocks noGrp="1"/>
          </p:cNvSpPr>
          <p:nvPr>
            <p:ph type="ftr" sz="quarter" idx="11"/>
          </p:nvPr>
        </p:nvSpPr>
        <p:spPr/>
        <p:txBody>
          <a:bodyPr/>
          <a:lstStyle/>
          <a:p>
            <a:endParaRPr lang="en-US"/>
          </a:p>
        </p:txBody>
      </p:sp>
      <p:sp>
        <p:nvSpPr>
          <p:cNvPr id="6" name="Marcador de número de diapositiva 5"/>
          <p:cNvSpPr>
            <a:spLocks noGrp="1"/>
          </p:cNvSpPr>
          <p:nvPr>
            <p:ph type="sldNum" sz="quarter" idx="12"/>
          </p:nvPr>
        </p:nvSpPr>
        <p:spPr/>
        <p:txBody>
          <a:bodyPr/>
          <a:lstStyle/>
          <a:p>
            <a:fld id="{59DB0849-2AD4-4A64-90E7-566131E15B71}" type="slidenum">
              <a:rPr lang="en-US" smtClean="0"/>
              <a:t>‹Nº›</a:t>
            </a:fld>
            <a:endParaRPr lang="en-US"/>
          </a:p>
        </p:txBody>
      </p:sp>
    </p:spTree>
    <p:extLst>
      <p:ext uri="{BB962C8B-B14F-4D97-AF65-F5344CB8AC3E}">
        <p14:creationId xmlns:p14="http://schemas.microsoft.com/office/powerpoint/2010/main" val="773552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smtClean="0"/>
              <a:t>Haga clic para modificar el estilo de título del patrón</a:t>
            </a:r>
            <a:endParaRPr lang="en-US"/>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4F1226-9693-42D0-A54D-87545176F087}" type="datetimeFigureOut">
              <a:rPr lang="en-US" smtClean="0"/>
              <a:t>1/22/2020</a:t>
            </a:fld>
            <a:endParaRPr lang="en-U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DB0849-2AD4-4A64-90E7-566131E15B71}" type="slidenum">
              <a:rPr lang="en-US" smtClean="0"/>
              <a:t>‹Nº›</a:t>
            </a:fld>
            <a:endParaRPr lang="en-US"/>
          </a:p>
        </p:txBody>
      </p:sp>
    </p:spTree>
    <p:extLst>
      <p:ext uri="{BB962C8B-B14F-4D97-AF65-F5344CB8AC3E}">
        <p14:creationId xmlns:p14="http://schemas.microsoft.com/office/powerpoint/2010/main" val="30858054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8.emf"/><Relationship Id="rId4" Type="http://schemas.openxmlformats.org/officeDocument/2006/relationships/oleObject" Target="../embeddings/oleObject2.bin"/></Relationships>
</file>

<file path=ppt/slides/_rels/slide8.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2667000" y="708032"/>
            <a:ext cx="7774632" cy="1899642"/>
          </a:xfrm>
        </p:spPr>
        <p:txBody>
          <a:bodyPr>
            <a:normAutofit/>
          </a:bodyPr>
          <a:lstStyle/>
          <a:p>
            <a:r>
              <a:rPr lang="es-CO" sz="5000" dirty="0" smtClean="0">
                <a:solidFill>
                  <a:srgbClr val="003300"/>
                </a:solidFill>
                <a:latin typeface="Aharoni" pitchFamily="2" charset="-79"/>
                <a:cs typeface="Aharoni" pitchFamily="2" charset="-79"/>
              </a:rPr>
              <a:t>Estrategia Campollo SAS</a:t>
            </a:r>
            <a:endParaRPr lang="es-CO" sz="5000" dirty="0">
              <a:solidFill>
                <a:srgbClr val="003300"/>
              </a:solidFill>
              <a:latin typeface="Aharoni" pitchFamily="2" charset="-79"/>
              <a:cs typeface="Aharoni" pitchFamily="2" charset="-79"/>
            </a:endParaRPr>
          </a:p>
        </p:txBody>
      </p:sp>
      <p:sp>
        <p:nvSpPr>
          <p:cNvPr id="3" name="2 Subtítulo"/>
          <p:cNvSpPr>
            <a:spLocks noGrp="1"/>
          </p:cNvSpPr>
          <p:nvPr>
            <p:ph type="subTitle" idx="1"/>
          </p:nvPr>
        </p:nvSpPr>
        <p:spPr>
          <a:xfrm>
            <a:off x="2896716" y="3723191"/>
            <a:ext cx="6400800" cy="1752600"/>
          </a:xfrm>
        </p:spPr>
        <p:txBody>
          <a:bodyPr>
            <a:normAutofit/>
          </a:bodyPr>
          <a:lstStyle/>
          <a:p>
            <a:endParaRPr lang="es-CO" dirty="0" smtClean="0"/>
          </a:p>
          <a:p>
            <a:pPr>
              <a:lnSpc>
                <a:spcPct val="80000"/>
              </a:lnSpc>
            </a:pPr>
            <a:r>
              <a:rPr lang="es-CO" sz="2700" dirty="0" smtClean="0">
                <a:solidFill>
                  <a:srgbClr val="003300"/>
                </a:solidFill>
              </a:rPr>
              <a:t>Presentado a:  Dr. </a:t>
            </a:r>
            <a:r>
              <a:rPr lang="es-CO" sz="2700" dirty="0" err="1" smtClean="0">
                <a:solidFill>
                  <a:srgbClr val="003300"/>
                </a:solidFill>
              </a:rPr>
              <a:t>Isaias</a:t>
            </a:r>
            <a:r>
              <a:rPr lang="es-CO" sz="2700" dirty="0" smtClean="0">
                <a:solidFill>
                  <a:srgbClr val="003300"/>
                </a:solidFill>
              </a:rPr>
              <a:t> </a:t>
            </a:r>
            <a:r>
              <a:rPr lang="es-CO" sz="2700" dirty="0" err="1" smtClean="0">
                <a:solidFill>
                  <a:srgbClr val="003300"/>
                </a:solidFill>
              </a:rPr>
              <a:t>Simanca</a:t>
            </a:r>
            <a:r>
              <a:rPr lang="es-CO" sz="2700" dirty="0" smtClean="0">
                <a:solidFill>
                  <a:srgbClr val="003300"/>
                </a:solidFill>
              </a:rPr>
              <a:t> Castro</a:t>
            </a:r>
          </a:p>
          <a:p>
            <a:pPr>
              <a:lnSpc>
                <a:spcPct val="80000"/>
              </a:lnSpc>
            </a:pPr>
            <a:r>
              <a:rPr lang="es-CO" sz="2700" dirty="0" smtClean="0">
                <a:solidFill>
                  <a:srgbClr val="003300"/>
                </a:solidFill>
              </a:rPr>
              <a:t>Alcalde Municipio de Arjona-</a:t>
            </a:r>
            <a:r>
              <a:rPr lang="es-CO" sz="2700" dirty="0" err="1" smtClean="0">
                <a:solidFill>
                  <a:srgbClr val="003300"/>
                </a:solidFill>
              </a:rPr>
              <a:t>Bolivar</a:t>
            </a:r>
            <a:endParaRPr lang="es-CO" sz="2700" dirty="0">
              <a:solidFill>
                <a:srgbClr val="003300"/>
              </a:solidFill>
            </a:endParaRPr>
          </a:p>
          <a:p>
            <a:endParaRPr lang="es-CO" dirty="0"/>
          </a:p>
        </p:txBody>
      </p:sp>
      <p:sp>
        <p:nvSpPr>
          <p:cNvPr id="4" name="3 Rectángulo"/>
          <p:cNvSpPr/>
          <p:nvPr/>
        </p:nvSpPr>
        <p:spPr>
          <a:xfrm>
            <a:off x="4774545" y="5598532"/>
            <a:ext cx="2563010" cy="369332"/>
          </a:xfrm>
          <a:prstGeom prst="rect">
            <a:avLst/>
          </a:prstGeom>
        </p:spPr>
        <p:txBody>
          <a:bodyPr wrap="none">
            <a:spAutoFit/>
          </a:bodyPr>
          <a:lstStyle/>
          <a:p>
            <a:pPr algn="ctr"/>
            <a:r>
              <a:rPr lang="es-CO" dirty="0" smtClean="0">
                <a:solidFill>
                  <a:srgbClr val="003300"/>
                </a:solidFill>
              </a:rPr>
              <a:t>Arjona, Enero 22 de 2020</a:t>
            </a:r>
            <a:endParaRPr lang="es-CO" dirty="0">
              <a:solidFill>
                <a:srgbClr val="003300"/>
              </a:solidFill>
            </a:endParaRPr>
          </a:p>
        </p:txBody>
      </p:sp>
      <p:sp>
        <p:nvSpPr>
          <p:cNvPr id="5" name="AutoShape 2" descr="Resultado de imagen para arjona sí avanz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2" descr="Resultado de imagen para campollo arjon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65871" y="2560595"/>
            <a:ext cx="4552950" cy="12192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099917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Título"/>
          <p:cNvSpPr txBox="1">
            <a:spLocks/>
          </p:cNvSpPr>
          <p:nvPr/>
        </p:nvSpPr>
        <p:spPr>
          <a:xfrm>
            <a:off x="2629272" y="593913"/>
            <a:ext cx="7283152" cy="504056"/>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CO" sz="2600" b="1" dirty="0">
                <a:solidFill>
                  <a:srgbClr val="003300"/>
                </a:solidFill>
                <a:latin typeface="Aharoni" pitchFamily="2" charset="-79"/>
                <a:cs typeface="Aharoni" pitchFamily="2" charset="-79"/>
              </a:rPr>
              <a:t>Antecedentes</a:t>
            </a:r>
          </a:p>
        </p:txBody>
      </p:sp>
      <p:sp>
        <p:nvSpPr>
          <p:cNvPr id="3" name="Rectángulo 2"/>
          <p:cNvSpPr/>
          <p:nvPr/>
        </p:nvSpPr>
        <p:spPr>
          <a:xfrm>
            <a:off x="1991544" y="1484785"/>
            <a:ext cx="7920880" cy="4834144"/>
          </a:xfrm>
          <a:prstGeom prst="rect">
            <a:avLst/>
          </a:prstGeom>
        </p:spPr>
        <p:txBody>
          <a:bodyPr wrap="square">
            <a:spAutoFit/>
          </a:bodyPr>
          <a:lstStyle/>
          <a:p>
            <a:pPr algn="just">
              <a:lnSpc>
                <a:spcPct val="107000"/>
              </a:lnSpc>
            </a:pPr>
            <a:r>
              <a:rPr lang="es-CO" dirty="0">
                <a:solidFill>
                  <a:srgbClr val="003300"/>
                </a:solidFill>
              </a:rPr>
              <a:t>Contribuyente: Campollo S.A.</a:t>
            </a:r>
            <a:endParaRPr lang="en-US" dirty="0">
              <a:solidFill>
                <a:srgbClr val="003300"/>
              </a:solidFill>
            </a:endParaRPr>
          </a:p>
          <a:p>
            <a:pPr algn="just">
              <a:lnSpc>
                <a:spcPct val="107000"/>
              </a:lnSpc>
            </a:pPr>
            <a:r>
              <a:rPr lang="es-CO" dirty="0">
                <a:solidFill>
                  <a:srgbClr val="003300"/>
                </a:solidFill>
              </a:rPr>
              <a:t>Municipio: Arjona-Bolívar.</a:t>
            </a:r>
            <a:endParaRPr lang="en-US" dirty="0">
              <a:solidFill>
                <a:srgbClr val="003300"/>
              </a:solidFill>
            </a:endParaRPr>
          </a:p>
          <a:p>
            <a:pPr algn="just">
              <a:lnSpc>
                <a:spcPct val="107000"/>
              </a:lnSpc>
            </a:pPr>
            <a:r>
              <a:rPr lang="es-CO" dirty="0">
                <a:solidFill>
                  <a:srgbClr val="003300"/>
                </a:solidFill>
              </a:rPr>
              <a:t>Caso: Recurso de reconsideración del Impuesto de Alumbrado Público y no pago del impuesto de AP</a:t>
            </a:r>
            <a:endParaRPr lang="en-US" dirty="0">
              <a:solidFill>
                <a:srgbClr val="003300"/>
              </a:solidFill>
            </a:endParaRPr>
          </a:p>
          <a:p>
            <a:pPr algn="just">
              <a:lnSpc>
                <a:spcPct val="107000"/>
              </a:lnSpc>
            </a:pPr>
            <a:r>
              <a:rPr lang="es-CO" dirty="0">
                <a:solidFill>
                  <a:srgbClr val="003300"/>
                </a:solidFill>
              </a:rPr>
              <a:t> </a:t>
            </a:r>
            <a:endParaRPr lang="en-US" dirty="0">
              <a:solidFill>
                <a:srgbClr val="003300"/>
              </a:solidFill>
            </a:endParaRPr>
          </a:p>
          <a:p>
            <a:pPr algn="just">
              <a:lnSpc>
                <a:spcPct val="107000"/>
              </a:lnSpc>
            </a:pPr>
            <a:r>
              <a:rPr lang="es-CO" dirty="0">
                <a:solidFill>
                  <a:srgbClr val="003300"/>
                </a:solidFill>
              </a:rPr>
              <a:t>Situación fáctica:</a:t>
            </a:r>
            <a:endParaRPr lang="en-US" dirty="0">
              <a:solidFill>
                <a:srgbClr val="003300"/>
              </a:solidFill>
            </a:endParaRPr>
          </a:p>
          <a:p>
            <a:pPr algn="just">
              <a:lnSpc>
                <a:spcPct val="107000"/>
              </a:lnSpc>
            </a:pPr>
            <a:r>
              <a:rPr lang="es-CO" dirty="0">
                <a:solidFill>
                  <a:srgbClr val="003300"/>
                </a:solidFill>
              </a:rPr>
              <a:t> </a:t>
            </a:r>
            <a:endParaRPr lang="en-US" dirty="0">
              <a:solidFill>
                <a:srgbClr val="003300"/>
              </a:solidFill>
            </a:endParaRPr>
          </a:p>
          <a:p>
            <a:pPr marL="342900" indent="-342900" algn="just">
              <a:lnSpc>
                <a:spcPct val="107000"/>
              </a:lnSpc>
              <a:buFont typeface="Calibri" panose="020F0502020204030204" pitchFamily="34" charset="0"/>
              <a:buChar char="-"/>
            </a:pPr>
            <a:r>
              <a:rPr lang="es-CO" dirty="0">
                <a:solidFill>
                  <a:srgbClr val="003300"/>
                </a:solidFill>
              </a:rPr>
              <a:t>En fecha 27 de diciembre de 2017, la empresa Campollo S.A., interpone recurso de reconsideración al Municipio de Arjona sobre el Impuesto de Alumbrado Público, solicitando la devolución de las sumas de dinero pagadas por concepto de este impuesto y argumentando que Campollo no es sujeto pasivo del mismo por no beneficiarse del servicio de AP y por no tener claridad de la metodología utilizada por el municipio para la determinación de las tarifas. </a:t>
            </a:r>
            <a:endParaRPr lang="en-US" dirty="0">
              <a:solidFill>
                <a:srgbClr val="003300"/>
              </a:solidFill>
            </a:endParaRPr>
          </a:p>
          <a:p>
            <a:pPr marL="342900" indent="-342900" algn="just">
              <a:lnSpc>
                <a:spcPct val="107000"/>
              </a:lnSpc>
              <a:buFont typeface="Calibri" panose="020F0502020204030204" pitchFamily="34" charset="0"/>
              <a:buChar char="-"/>
            </a:pPr>
            <a:r>
              <a:rPr lang="es-CO" dirty="0">
                <a:solidFill>
                  <a:srgbClr val="003300"/>
                </a:solidFill>
              </a:rPr>
              <a:t>Municipio en fecha 16 de enero de 2018, </a:t>
            </a:r>
            <a:r>
              <a:rPr lang="es-CO" dirty="0" smtClean="0">
                <a:solidFill>
                  <a:srgbClr val="003300"/>
                </a:solidFill>
              </a:rPr>
              <a:t>pone en conocimiento del concesionario </a:t>
            </a:r>
            <a:r>
              <a:rPr lang="es-CO" dirty="0">
                <a:solidFill>
                  <a:srgbClr val="003300"/>
                </a:solidFill>
              </a:rPr>
              <a:t>AGM Desarrollos S.A.S </a:t>
            </a:r>
            <a:r>
              <a:rPr lang="es-CO" dirty="0" smtClean="0">
                <a:solidFill>
                  <a:srgbClr val="003300"/>
                </a:solidFill>
              </a:rPr>
              <a:t>sobre el particular.</a:t>
            </a:r>
            <a:endParaRPr lang="es-CO" dirty="0">
              <a:solidFill>
                <a:srgbClr val="003300"/>
              </a:solidFill>
            </a:endParaRPr>
          </a:p>
          <a:p>
            <a:pPr marL="457200" algn="just">
              <a:lnSpc>
                <a:spcPct val="107000"/>
              </a:lnSpc>
            </a:pPr>
            <a:r>
              <a:rPr lang="es-CO" dirty="0">
                <a:solidFill>
                  <a:srgbClr val="003300"/>
                </a:solidFill>
              </a:rPr>
              <a:t> </a:t>
            </a:r>
            <a:endParaRPr lang="en-US" dirty="0">
              <a:solidFill>
                <a:srgbClr val="003300"/>
              </a:solidFill>
            </a:endParaRPr>
          </a:p>
        </p:txBody>
      </p:sp>
      <p:pic>
        <p:nvPicPr>
          <p:cNvPr id="2050" name="Picture 2" descr="Resultado de imagen para recurso de reconsideracion"/>
          <p:cNvPicPr>
            <a:picLocks noChangeAspect="1" noChangeArrowheads="1"/>
          </p:cNvPicPr>
          <p:nvPr/>
        </p:nvPicPr>
        <p:blipFill>
          <a:blip r:embed="rId2">
            <a:clrChange>
              <a:clrFrom>
                <a:srgbClr val="D2E5EB"/>
              </a:clrFrom>
              <a:clrTo>
                <a:srgbClr val="D2E5EB">
                  <a:alpha val="0"/>
                </a:srgbClr>
              </a:clrTo>
            </a:clrChange>
            <a:extLst>
              <a:ext uri="{28A0092B-C50C-407E-A947-70E740481C1C}">
                <a14:useLocalDpi xmlns:a14="http://schemas.microsoft.com/office/drawing/2010/main" val="0"/>
              </a:ext>
            </a:extLst>
          </a:blip>
          <a:srcRect/>
          <a:stretch>
            <a:fillRect/>
          </a:stretch>
        </p:blipFill>
        <p:spPr bwMode="auto">
          <a:xfrm>
            <a:off x="7251796" y="4114800"/>
            <a:ext cx="6429370" cy="27432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Resultado de imagen para campollo arjon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7700" y="557986"/>
            <a:ext cx="2016498" cy="5399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647907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Imagen relacionad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2324961"/>
            <a:ext cx="3004456" cy="4533040"/>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p:cNvSpPr/>
          <p:nvPr/>
        </p:nvSpPr>
        <p:spPr>
          <a:xfrm>
            <a:off x="3775166" y="2151313"/>
            <a:ext cx="5011122" cy="3945054"/>
          </a:xfrm>
          <a:prstGeom prst="rect">
            <a:avLst/>
          </a:prstGeom>
        </p:spPr>
        <p:txBody>
          <a:bodyPr wrap="square">
            <a:spAutoFit/>
          </a:bodyPr>
          <a:lstStyle/>
          <a:p>
            <a:pPr algn="just">
              <a:lnSpc>
                <a:spcPct val="107000"/>
              </a:lnSpc>
            </a:pPr>
            <a:r>
              <a:rPr lang="es-CO" dirty="0">
                <a:solidFill>
                  <a:srgbClr val="003300"/>
                </a:solidFill>
                <a:effectLst>
                  <a:outerShdw blurRad="38100" dist="38100" dir="2700000" algn="tl">
                    <a:srgbClr val="000000">
                      <a:alpha val="43137"/>
                    </a:srgbClr>
                  </a:outerShdw>
                </a:effectLst>
              </a:rPr>
              <a:t>Causa Petendi:</a:t>
            </a:r>
          </a:p>
          <a:p>
            <a:pPr algn="just">
              <a:lnSpc>
                <a:spcPct val="107000"/>
              </a:lnSpc>
            </a:pPr>
            <a:endParaRPr lang="en-US" dirty="0">
              <a:solidFill>
                <a:srgbClr val="003300"/>
              </a:solidFill>
            </a:endParaRPr>
          </a:p>
          <a:p>
            <a:pPr marL="342900" indent="-342900" algn="just">
              <a:lnSpc>
                <a:spcPct val="107000"/>
              </a:lnSpc>
              <a:buFont typeface="Calibri" panose="020F0502020204030204" pitchFamily="34" charset="0"/>
              <a:buChar char="-"/>
            </a:pPr>
            <a:r>
              <a:rPr lang="es-CO" dirty="0">
                <a:solidFill>
                  <a:srgbClr val="003300"/>
                </a:solidFill>
              </a:rPr>
              <a:t>Solicita el recurrente, la devolución de las sumas de dinero pagadas por concepto del impuesto de Alumbrado Público desde mayo de 2013 a diciembre de 2017 por un total de $2.652.787.670.</a:t>
            </a:r>
            <a:endParaRPr lang="en-US" dirty="0">
              <a:solidFill>
                <a:srgbClr val="003300"/>
              </a:solidFill>
            </a:endParaRPr>
          </a:p>
          <a:p>
            <a:pPr marL="342900" indent="-342900" algn="just">
              <a:lnSpc>
                <a:spcPct val="107000"/>
              </a:lnSpc>
              <a:buFont typeface="Calibri" panose="020F0502020204030204" pitchFamily="34" charset="0"/>
              <a:buChar char="-"/>
            </a:pPr>
            <a:r>
              <a:rPr lang="es-CO" dirty="0">
                <a:solidFill>
                  <a:srgbClr val="003300"/>
                </a:solidFill>
              </a:rPr>
              <a:t>Se declare que Campollo S.A. no es sujeto pasivo del IAP hasta no tener claridad de la metodología a emplear, los costos de la prestación del servicio, planes de expansión, los planes de servicio y demás obligaciones inherentes al servicio de alumbrado público.</a:t>
            </a:r>
            <a:endParaRPr lang="en-US" dirty="0">
              <a:solidFill>
                <a:srgbClr val="003300"/>
              </a:solidFill>
            </a:endParaRPr>
          </a:p>
        </p:txBody>
      </p:sp>
      <p:sp>
        <p:nvSpPr>
          <p:cNvPr id="11" name="1 Título"/>
          <p:cNvSpPr txBox="1">
            <a:spLocks/>
          </p:cNvSpPr>
          <p:nvPr/>
        </p:nvSpPr>
        <p:spPr>
          <a:xfrm>
            <a:off x="2483175" y="1038051"/>
            <a:ext cx="7283152" cy="504056"/>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CO" sz="2600" b="1" dirty="0">
                <a:latin typeface="Aharoni" pitchFamily="2" charset="-79"/>
                <a:cs typeface="Aharoni" pitchFamily="2" charset="-79"/>
              </a:rPr>
              <a:t>Antecedentes</a:t>
            </a:r>
          </a:p>
        </p:txBody>
      </p:sp>
    </p:spTree>
    <p:extLst>
      <p:ext uri="{BB962C8B-B14F-4D97-AF65-F5344CB8AC3E}">
        <p14:creationId xmlns:p14="http://schemas.microsoft.com/office/powerpoint/2010/main" val="56503699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Resultado de imagen para recurso de reconsideracion"/>
          <p:cNvPicPr>
            <a:picLocks noChangeAspect="1" noChangeArrowheads="1"/>
          </p:cNvPicPr>
          <p:nvPr/>
        </p:nvPicPr>
        <p:blipFill rotWithShape="1">
          <a:blip r:embed="rId2">
            <a:extLst>
              <a:ext uri="{28A0092B-C50C-407E-A947-70E740481C1C}">
                <a14:useLocalDpi xmlns:a14="http://schemas.microsoft.com/office/drawing/2010/main" val="0"/>
              </a:ext>
            </a:extLst>
          </a:blip>
          <a:srcRect l="35678" b="7200"/>
          <a:stretch/>
        </p:blipFill>
        <p:spPr bwMode="auto">
          <a:xfrm>
            <a:off x="8515986" y="2880360"/>
            <a:ext cx="3676014" cy="3977640"/>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p:cNvSpPr/>
          <p:nvPr/>
        </p:nvSpPr>
        <p:spPr>
          <a:xfrm>
            <a:off x="1171302" y="1129237"/>
            <a:ext cx="7188926" cy="5438284"/>
          </a:xfrm>
          <a:prstGeom prst="rect">
            <a:avLst/>
          </a:prstGeom>
        </p:spPr>
        <p:txBody>
          <a:bodyPr wrap="square">
            <a:spAutoFit/>
          </a:bodyPr>
          <a:lstStyle/>
          <a:p>
            <a:pPr algn="just">
              <a:lnSpc>
                <a:spcPct val="107000"/>
              </a:lnSpc>
              <a:spcBef>
                <a:spcPts val="750"/>
              </a:spcBef>
            </a:pPr>
            <a:r>
              <a:rPr lang="es-CO" dirty="0">
                <a:solidFill>
                  <a:srgbClr val="003300"/>
                </a:solidFill>
                <a:effectLst>
                  <a:outerShdw blurRad="38100" dist="38100" dir="2700000" algn="tl">
                    <a:srgbClr val="000000">
                      <a:alpha val="43137"/>
                    </a:srgbClr>
                  </a:outerShdw>
                </a:effectLst>
              </a:rPr>
              <a:t>Conclusiones luego del análisis jurídico:</a:t>
            </a:r>
          </a:p>
          <a:p>
            <a:pPr marL="342900" indent="-342900" algn="just">
              <a:lnSpc>
                <a:spcPct val="107000"/>
              </a:lnSpc>
              <a:spcBef>
                <a:spcPts val="750"/>
              </a:spcBef>
              <a:buFont typeface="Calibri" panose="020F0502020204030204" pitchFamily="34" charset="0"/>
              <a:buChar char="-"/>
            </a:pPr>
            <a:r>
              <a:rPr lang="es-CO" dirty="0">
                <a:solidFill>
                  <a:srgbClr val="003300"/>
                </a:solidFill>
              </a:rPr>
              <a:t>El recurso de reconsideración es improcedente, debido a la ausencia de acto administrativo susceptible de recurso ni proceso de aforo del acuerdo municipal que fija la tarifa.</a:t>
            </a:r>
            <a:endParaRPr lang="en-US" dirty="0">
              <a:solidFill>
                <a:srgbClr val="003300"/>
              </a:solidFill>
            </a:endParaRPr>
          </a:p>
          <a:p>
            <a:pPr marL="342900" indent="-342900" algn="just">
              <a:lnSpc>
                <a:spcPct val="107000"/>
              </a:lnSpc>
              <a:spcBef>
                <a:spcPts val="750"/>
              </a:spcBef>
              <a:buFont typeface="Calibri" panose="020F0502020204030204" pitchFamily="34" charset="0"/>
              <a:buChar char="-"/>
            </a:pPr>
            <a:r>
              <a:rPr lang="es-CO" dirty="0">
                <a:solidFill>
                  <a:srgbClr val="003300"/>
                </a:solidFill>
              </a:rPr>
              <a:t>El impuesto de Alumbrado Público, es imponible a todos los individuos miembros de una colectividad habitante que, aunque no percibe el servicio directamente en sus inmuebles, son beneficiarios potenciales del servicio, convirtiéndose en sujetos pasivos y por ende contribuyentes.</a:t>
            </a:r>
            <a:endParaRPr lang="en-US" dirty="0">
              <a:solidFill>
                <a:srgbClr val="003300"/>
              </a:solidFill>
            </a:endParaRPr>
          </a:p>
          <a:p>
            <a:pPr marL="342900" indent="-342900" algn="just">
              <a:lnSpc>
                <a:spcPct val="107000"/>
              </a:lnSpc>
              <a:spcBef>
                <a:spcPts val="750"/>
              </a:spcBef>
              <a:buFont typeface="Calibri" panose="020F0502020204030204" pitchFamily="34" charset="0"/>
              <a:buChar char="-"/>
            </a:pPr>
            <a:r>
              <a:rPr lang="es-CO" dirty="0">
                <a:solidFill>
                  <a:srgbClr val="003300"/>
                </a:solidFill>
              </a:rPr>
              <a:t>El cobro del impuesto está determinado de acuerdo a los requisitos técnicos y legales y conforme la metodología implementada por la CREG para la determinación de costos de prestación del servicio, por lo cual las tarifas fijadas para cada usuario responden a los criterios técnicos definidos en el Decreto 943 de 2018 (dentro de los cuales están los costos totales de la operación, consumo de energía con destino al Alumbrado, Clasificación de usuarios, consumo de energía de los usuarios).</a:t>
            </a:r>
            <a:endParaRPr lang="en-US" dirty="0">
              <a:solidFill>
                <a:srgbClr val="003300"/>
              </a:solidFill>
            </a:endParaRPr>
          </a:p>
        </p:txBody>
      </p:sp>
      <p:sp>
        <p:nvSpPr>
          <p:cNvPr id="6" name="1 Título"/>
          <p:cNvSpPr txBox="1">
            <a:spLocks/>
          </p:cNvSpPr>
          <p:nvPr/>
        </p:nvSpPr>
        <p:spPr>
          <a:xfrm>
            <a:off x="2901186" y="332656"/>
            <a:ext cx="7283152" cy="504056"/>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CO" sz="2600" b="1" dirty="0">
                <a:latin typeface="Aharoni" pitchFamily="2" charset="-79"/>
                <a:cs typeface="Aharoni" pitchFamily="2" charset="-79"/>
              </a:rPr>
              <a:t>Antecedentes</a:t>
            </a:r>
          </a:p>
        </p:txBody>
      </p:sp>
    </p:spTree>
    <p:extLst>
      <p:ext uri="{BB962C8B-B14F-4D97-AF65-F5344CB8AC3E}">
        <p14:creationId xmlns:p14="http://schemas.microsoft.com/office/powerpoint/2010/main" val="143820440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clrChange>
              <a:clrFrom>
                <a:srgbClr val="000000"/>
              </a:clrFrom>
              <a:clrTo>
                <a:srgbClr val="000000">
                  <a:alpha val="0"/>
                </a:srgbClr>
              </a:clrTo>
            </a:clrChange>
          </a:blip>
          <a:stretch>
            <a:fillRect/>
          </a:stretch>
        </p:blipFill>
        <p:spPr>
          <a:xfrm>
            <a:off x="9876946" y="3605349"/>
            <a:ext cx="2315054" cy="3252651"/>
          </a:xfrm>
          <a:prstGeom prst="rect">
            <a:avLst/>
          </a:prstGeom>
        </p:spPr>
      </p:pic>
      <p:sp>
        <p:nvSpPr>
          <p:cNvPr id="4" name="Rectángulo 3"/>
          <p:cNvSpPr/>
          <p:nvPr/>
        </p:nvSpPr>
        <p:spPr>
          <a:xfrm>
            <a:off x="884962" y="1476217"/>
            <a:ext cx="4032448" cy="5039328"/>
          </a:xfrm>
          <a:prstGeom prst="rect">
            <a:avLst/>
          </a:prstGeom>
        </p:spPr>
        <p:txBody>
          <a:bodyPr wrap="square">
            <a:spAutoFit/>
          </a:bodyPr>
          <a:lstStyle/>
          <a:p>
            <a:pPr algn="just">
              <a:lnSpc>
                <a:spcPct val="107000"/>
              </a:lnSpc>
              <a:spcBef>
                <a:spcPts val="750"/>
              </a:spcBef>
            </a:pPr>
            <a:r>
              <a:rPr lang="es-CO" dirty="0">
                <a:solidFill>
                  <a:srgbClr val="003300"/>
                </a:solidFill>
              </a:rPr>
              <a:t>El contribuyente tiene aplicada una tarifa del 12% del consumo de energía por ser usuario regulado del sector industrial y la actualidad su cartera supera los $ </a:t>
            </a:r>
            <a:r>
              <a:rPr lang="es-CO" dirty="0" smtClean="0">
                <a:solidFill>
                  <a:srgbClr val="003300"/>
                </a:solidFill>
              </a:rPr>
              <a:t>1788 </a:t>
            </a:r>
            <a:r>
              <a:rPr lang="es-CO" dirty="0">
                <a:solidFill>
                  <a:srgbClr val="003300"/>
                </a:solidFill>
              </a:rPr>
              <a:t>millones de pesos.</a:t>
            </a:r>
          </a:p>
          <a:p>
            <a:pPr algn="just">
              <a:lnSpc>
                <a:spcPct val="107000"/>
              </a:lnSpc>
              <a:spcBef>
                <a:spcPts val="750"/>
              </a:spcBef>
            </a:pPr>
            <a:endParaRPr lang="es-CO" dirty="0">
              <a:solidFill>
                <a:srgbClr val="003300"/>
              </a:solidFill>
            </a:endParaRPr>
          </a:p>
          <a:p>
            <a:pPr algn="just">
              <a:lnSpc>
                <a:spcPct val="107000"/>
              </a:lnSpc>
              <a:spcBef>
                <a:spcPts val="750"/>
              </a:spcBef>
            </a:pPr>
            <a:r>
              <a:rPr lang="es-CO" dirty="0">
                <a:solidFill>
                  <a:srgbClr val="003300"/>
                </a:solidFill>
              </a:rPr>
              <a:t>Sus consumos de energía corresponden a un gran consumidor que debería tener pactado con un comercializador o generador los cargos No Regulados de Generación + Comercializador; beneficiándose además de una mejor tarifa de energía y de una menor tarifa de Alumbrado Público que para el caso de Arjona,  grava a los usuarios no regulados en un 8% del consumo.</a:t>
            </a:r>
            <a:endParaRPr lang="en-US" dirty="0">
              <a:solidFill>
                <a:srgbClr val="003300"/>
              </a:solidFill>
            </a:endParaRPr>
          </a:p>
        </p:txBody>
      </p:sp>
      <p:sp>
        <p:nvSpPr>
          <p:cNvPr id="15" name="1 Título"/>
          <p:cNvSpPr txBox="1">
            <a:spLocks/>
          </p:cNvSpPr>
          <p:nvPr/>
        </p:nvSpPr>
        <p:spPr>
          <a:xfrm>
            <a:off x="2593794" y="659227"/>
            <a:ext cx="7283152" cy="504056"/>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CO" sz="2600" b="1" dirty="0">
                <a:latin typeface="Aharoni" pitchFamily="2" charset="-79"/>
                <a:cs typeface="Aharoni" pitchFamily="2" charset="-79"/>
              </a:rPr>
              <a:t>Situación actual</a:t>
            </a:r>
          </a:p>
        </p:txBody>
      </p:sp>
      <p:pic>
        <p:nvPicPr>
          <p:cNvPr id="6" name="Imagen 5"/>
          <p:cNvPicPr>
            <a:picLocks noChangeAspect="1"/>
          </p:cNvPicPr>
          <p:nvPr/>
        </p:nvPicPr>
        <p:blipFill>
          <a:blip r:embed="rId3"/>
          <a:stretch>
            <a:fillRect/>
          </a:stretch>
        </p:blipFill>
        <p:spPr>
          <a:xfrm>
            <a:off x="5393349" y="1898251"/>
            <a:ext cx="4339905" cy="4460540"/>
          </a:xfrm>
          <a:prstGeom prst="rect">
            <a:avLst/>
          </a:prstGeom>
        </p:spPr>
      </p:pic>
    </p:spTree>
    <p:extLst>
      <p:ext uri="{BB962C8B-B14F-4D97-AF65-F5344CB8AC3E}">
        <p14:creationId xmlns:p14="http://schemas.microsoft.com/office/powerpoint/2010/main" val="54369453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1 Título"/>
          <p:cNvSpPr txBox="1">
            <a:spLocks/>
          </p:cNvSpPr>
          <p:nvPr/>
        </p:nvSpPr>
        <p:spPr>
          <a:xfrm>
            <a:off x="2606032" y="857225"/>
            <a:ext cx="7283152" cy="504056"/>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CO" sz="2600" b="1" dirty="0">
                <a:solidFill>
                  <a:srgbClr val="003300"/>
                </a:solidFill>
                <a:latin typeface="Aharoni" pitchFamily="2" charset="-79"/>
                <a:cs typeface="Aharoni" pitchFamily="2" charset="-79"/>
              </a:rPr>
              <a:t>Situación actual</a:t>
            </a:r>
          </a:p>
        </p:txBody>
      </p:sp>
      <p:pic>
        <p:nvPicPr>
          <p:cNvPr id="3" name="Imagen 2"/>
          <p:cNvPicPr>
            <a:picLocks noChangeAspect="1"/>
          </p:cNvPicPr>
          <p:nvPr/>
        </p:nvPicPr>
        <p:blipFill>
          <a:blip r:embed="rId2"/>
          <a:stretch>
            <a:fillRect/>
          </a:stretch>
        </p:blipFill>
        <p:spPr>
          <a:xfrm>
            <a:off x="1223239" y="2191736"/>
            <a:ext cx="9108213" cy="3974937"/>
          </a:xfrm>
          <a:prstGeom prst="rect">
            <a:avLst/>
          </a:prstGeom>
        </p:spPr>
      </p:pic>
      <p:graphicFrame>
        <p:nvGraphicFramePr>
          <p:cNvPr id="9" name="Gráfico 8"/>
          <p:cNvGraphicFramePr>
            <a:graphicFrameLocks/>
          </p:cNvGraphicFramePr>
          <p:nvPr>
            <p:extLst>
              <p:ext uri="{D42A27DB-BD31-4B8C-83A1-F6EECF244321}">
                <p14:modId xmlns:p14="http://schemas.microsoft.com/office/powerpoint/2010/main" val="2312589103"/>
              </p:ext>
            </p:extLst>
          </p:nvPr>
        </p:nvGraphicFramePr>
        <p:xfrm>
          <a:off x="1699421" y="1806118"/>
          <a:ext cx="9096375" cy="396240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02830070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txBox="1">
            <a:spLocks/>
          </p:cNvSpPr>
          <p:nvPr/>
        </p:nvSpPr>
        <p:spPr>
          <a:xfrm>
            <a:off x="2901186" y="332656"/>
            <a:ext cx="7283152" cy="504056"/>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CO" sz="2600" b="1" dirty="0">
                <a:solidFill>
                  <a:srgbClr val="003300"/>
                </a:solidFill>
                <a:latin typeface="Aharoni" pitchFamily="2" charset="-79"/>
                <a:cs typeface="Aharoni" pitchFamily="2" charset="-79"/>
              </a:rPr>
              <a:t>Propuesta de valor                              </a:t>
            </a:r>
          </a:p>
        </p:txBody>
      </p:sp>
      <p:graphicFrame>
        <p:nvGraphicFramePr>
          <p:cNvPr id="6" name="Objeto 5"/>
          <p:cNvGraphicFramePr>
            <a:graphicFrameLocks noChangeAspect="1"/>
          </p:cNvGraphicFramePr>
          <p:nvPr>
            <p:extLst/>
          </p:nvPr>
        </p:nvGraphicFramePr>
        <p:xfrm>
          <a:off x="1775520" y="3140968"/>
          <a:ext cx="8763000" cy="1224136"/>
        </p:xfrm>
        <a:graphic>
          <a:graphicData uri="http://schemas.openxmlformats.org/presentationml/2006/ole">
            <mc:AlternateContent xmlns:mc="http://schemas.openxmlformats.org/markup-compatibility/2006">
              <mc:Choice xmlns:v="urn:schemas-microsoft-com:vml" Requires="v">
                <p:oleObj spid="_x0000_s1059" name="Hoja de cálculo" r:id="rId4" imgW="8762946" imgH="961970" progId="Excel.Sheet.12">
                  <p:embed/>
                </p:oleObj>
              </mc:Choice>
              <mc:Fallback>
                <p:oleObj name="Hoja de cálculo" r:id="rId4" imgW="8762946" imgH="961970" progId="Excel.Sheet.12">
                  <p:embed/>
                  <p:pic>
                    <p:nvPicPr>
                      <p:cNvPr id="6" name="Objeto 5"/>
                      <p:cNvPicPr/>
                      <p:nvPr/>
                    </p:nvPicPr>
                    <p:blipFill>
                      <a:blip r:embed="rId5"/>
                      <a:stretch>
                        <a:fillRect/>
                      </a:stretch>
                    </p:blipFill>
                    <p:spPr>
                      <a:xfrm>
                        <a:off x="1775520" y="3140968"/>
                        <a:ext cx="8763000" cy="1224136"/>
                      </a:xfrm>
                      <a:prstGeom prst="rect">
                        <a:avLst/>
                      </a:prstGeom>
                    </p:spPr>
                  </p:pic>
                </p:oleObj>
              </mc:Fallback>
            </mc:AlternateContent>
          </a:graphicData>
        </a:graphic>
      </p:graphicFrame>
      <p:sp>
        <p:nvSpPr>
          <p:cNvPr id="7" name="Rectángulo 6"/>
          <p:cNvSpPr/>
          <p:nvPr/>
        </p:nvSpPr>
        <p:spPr>
          <a:xfrm>
            <a:off x="1775520" y="1792379"/>
            <a:ext cx="8568952" cy="1277786"/>
          </a:xfrm>
          <a:prstGeom prst="rect">
            <a:avLst/>
          </a:prstGeom>
        </p:spPr>
        <p:txBody>
          <a:bodyPr wrap="square">
            <a:spAutoFit/>
          </a:bodyPr>
          <a:lstStyle/>
          <a:p>
            <a:pPr algn="just">
              <a:lnSpc>
                <a:spcPct val="107000"/>
              </a:lnSpc>
              <a:spcBef>
                <a:spcPts val="750"/>
              </a:spcBef>
            </a:pPr>
            <a:r>
              <a:rPr lang="es-CO" dirty="0">
                <a:solidFill>
                  <a:srgbClr val="003300"/>
                </a:solidFill>
              </a:rPr>
              <a:t>A continuación, se muestra un comparativo tarifario en mercado no regulado con comercializadoras con las que se hizo un sondeo de precios,  para tener un escenario indicativo; el cual a todas luces, podrá mejorarse con la presentación de ofertas en firme;  y  de igual manera,  se simuló también el impacto del impuesto</a:t>
            </a:r>
            <a:r>
              <a:rPr lang="es-CO" dirty="0"/>
              <a:t>.</a:t>
            </a:r>
          </a:p>
        </p:txBody>
      </p:sp>
      <p:sp>
        <p:nvSpPr>
          <p:cNvPr id="8" name="Rectángulo 7"/>
          <p:cNvSpPr/>
          <p:nvPr/>
        </p:nvSpPr>
        <p:spPr>
          <a:xfrm>
            <a:off x="1775520" y="4689619"/>
            <a:ext cx="8568952" cy="981423"/>
          </a:xfrm>
          <a:prstGeom prst="rect">
            <a:avLst/>
          </a:prstGeom>
        </p:spPr>
        <p:txBody>
          <a:bodyPr wrap="square">
            <a:spAutoFit/>
          </a:bodyPr>
          <a:lstStyle/>
          <a:p>
            <a:pPr algn="just">
              <a:lnSpc>
                <a:spcPct val="107000"/>
              </a:lnSpc>
              <a:spcBef>
                <a:spcPts val="750"/>
              </a:spcBef>
            </a:pPr>
            <a:r>
              <a:rPr lang="es-CO" dirty="0">
                <a:solidFill>
                  <a:srgbClr val="003300"/>
                </a:solidFill>
              </a:rPr>
              <a:t>El contribuyente debe optar por una mejor tarifa en el mercado de energía de Colombia, preferiblemente, pasando a ser usuario de energía  no regulado ya que además del beneficio tarifario, se reclasificaría la  tarifa de  impuesto de alumbrado público.</a:t>
            </a:r>
          </a:p>
        </p:txBody>
      </p:sp>
    </p:spTree>
    <p:extLst>
      <p:ext uri="{BB962C8B-B14F-4D97-AF65-F5344CB8AC3E}">
        <p14:creationId xmlns:p14="http://schemas.microsoft.com/office/powerpoint/2010/main" val="403705069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txBox="1">
            <a:spLocks/>
          </p:cNvSpPr>
          <p:nvPr/>
        </p:nvSpPr>
        <p:spPr>
          <a:xfrm>
            <a:off x="2069913" y="356129"/>
            <a:ext cx="7283152" cy="108012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CO" sz="2600" b="1" dirty="0">
                <a:solidFill>
                  <a:srgbClr val="003300"/>
                </a:solidFill>
                <a:latin typeface="Aharoni" pitchFamily="2" charset="-79"/>
                <a:cs typeface="Aharoni" pitchFamily="2" charset="-79"/>
              </a:rPr>
              <a:t>Propuesta para normalizar la cartera del impuesto de AP                              </a:t>
            </a:r>
          </a:p>
        </p:txBody>
      </p:sp>
      <p:sp>
        <p:nvSpPr>
          <p:cNvPr id="6" name="Rectángulo 5"/>
          <p:cNvSpPr/>
          <p:nvPr/>
        </p:nvSpPr>
        <p:spPr>
          <a:xfrm>
            <a:off x="1257472" y="1431625"/>
            <a:ext cx="8568952" cy="1676741"/>
          </a:xfrm>
          <a:prstGeom prst="rect">
            <a:avLst/>
          </a:prstGeom>
        </p:spPr>
        <p:txBody>
          <a:bodyPr wrap="square">
            <a:spAutoFit/>
          </a:bodyPr>
          <a:lstStyle/>
          <a:p>
            <a:pPr algn="just">
              <a:lnSpc>
                <a:spcPct val="107000"/>
              </a:lnSpc>
              <a:spcBef>
                <a:spcPts val="750"/>
              </a:spcBef>
            </a:pPr>
            <a:r>
              <a:rPr lang="es-CO" dirty="0"/>
              <a:t>Teniendo en cuenta lo antes expuestos, se propone darles tratamiento como contribuyentes no regulados, recalculando la liquidación del impuesto del 12% al 8% para los períodos adeudados; generándoseles una reducción de los valores adeudados superior a los $ </a:t>
            </a:r>
            <a:r>
              <a:rPr lang="es-CO" dirty="0" smtClean="0"/>
              <a:t>596 </a:t>
            </a:r>
            <a:r>
              <a:rPr lang="es-CO" dirty="0"/>
              <a:t>millones de pesos.</a:t>
            </a:r>
          </a:p>
          <a:p>
            <a:pPr algn="just">
              <a:lnSpc>
                <a:spcPct val="107000"/>
              </a:lnSpc>
              <a:spcBef>
                <a:spcPts val="750"/>
              </a:spcBef>
            </a:pPr>
            <a:endParaRPr lang="es-CO" dirty="0"/>
          </a:p>
        </p:txBody>
      </p:sp>
      <p:pic>
        <p:nvPicPr>
          <p:cNvPr id="2" name="Imagen 1"/>
          <p:cNvPicPr>
            <a:picLocks noChangeAspect="1"/>
          </p:cNvPicPr>
          <p:nvPr/>
        </p:nvPicPr>
        <p:blipFill>
          <a:blip r:embed="rId3"/>
          <a:stretch>
            <a:fillRect/>
          </a:stretch>
        </p:blipFill>
        <p:spPr>
          <a:xfrm>
            <a:off x="3250716" y="2792527"/>
            <a:ext cx="5724871" cy="3908719"/>
          </a:xfrm>
          <a:prstGeom prst="rect">
            <a:avLst/>
          </a:prstGeom>
        </p:spPr>
      </p:pic>
    </p:spTree>
    <p:extLst>
      <p:ext uri="{BB962C8B-B14F-4D97-AF65-F5344CB8AC3E}">
        <p14:creationId xmlns:p14="http://schemas.microsoft.com/office/powerpoint/2010/main" val="130876174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txBox="1">
            <a:spLocks/>
          </p:cNvSpPr>
          <p:nvPr/>
        </p:nvSpPr>
        <p:spPr>
          <a:xfrm>
            <a:off x="2540968" y="356129"/>
            <a:ext cx="7283152" cy="108012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CO" sz="2600" b="1" dirty="0">
                <a:solidFill>
                  <a:srgbClr val="003300"/>
                </a:solidFill>
                <a:latin typeface="Aharoni" pitchFamily="2" charset="-79"/>
                <a:cs typeface="Aharoni" pitchFamily="2" charset="-79"/>
              </a:rPr>
              <a:t>Propuesta para normalizar la cartera del impuesto de AP                              </a:t>
            </a:r>
          </a:p>
        </p:txBody>
      </p:sp>
      <p:sp>
        <p:nvSpPr>
          <p:cNvPr id="5" name="Rectángulo 4"/>
          <p:cNvSpPr/>
          <p:nvPr/>
        </p:nvSpPr>
        <p:spPr>
          <a:xfrm>
            <a:off x="1501200" y="1792378"/>
            <a:ext cx="8568952" cy="4663200"/>
          </a:xfrm>
          <a:prstGeom prst="rect">
            <a:avLst/>
          </a:prstGeom>
        </p:spPr>
        <p:txBody>
          <a:bodyPr wrap="square">
            <a:spAutoFit/>
          </a:bodyPr>
          <a:lstStyle/>
          <a:p>
            <a:pPr algn="just">
              <a:lnSpc>
                <a:spcPct val="107000"/>
              </a:lnSpc>
              <a:spcBef>
                <a:spcPts val="750"/>
              </a:spcBef>
            </a:pPr>
            <a:r>
              <a:rPr lang="es-CO" dirty="0">
                <a:solidFill>
                  <a:srgbClr val="003300"/>
                </a:solidFill>
              </a:rPr>
              <a:t>Adicionalmente y tomando como base que una vez pagados los valores adeudados, se deberán liquidar los interés por mora, se propone el descuento del cien por ciento de los mismos por pago de la totalidad de la obligación y proporcional de acuerdo al porcentaje que se cancele de cuota inicial, en el evento de realizarse un acuerdo de pago.</a:t>
            </a:r>
          </a:p>
          <a:p>
            <a:pPr algn="just">
              <a:lnSpc>
                <a:spcPct val="107000"/>
              </a:lnSpc>
              <a:spcBef>
                <a:spcPts val="750"/>
              </a:spcBef>
            </a:pPr>
            <a:endParaRPr lang="es-CO" dirty="0">
              <a:solidFill>
                <a:srgbClr val="003300"/>
              </a:solidFill>
            </a:endParaRPr>
          </a:p>
          <a:p>
            <a:pPr algn="just">
              <a:lnSpc>
                <a:spcPct val="107000"/>
              </a:lnSpc>
              <a:spcBef>
                <a:spcPts val="750"/>
              </a:spcBef>
            </a:pPr>
            <a:r>
              <a:rPr lang="es-CO" dirty="0">
                <a:solidFill>
                  <a:srgbClr val="003300"/>
                </a:solidFill>
              </a:rPr>
              <a:t>Por último es importante precisar,  que ante un arreglo, ambas partes, renunciarán a adelantar cualquier tipo de actuación de tipo administrativo o judicial sobre los asuntos objeto del mismo.</a:t>
            </a:r>
          </a:p>
          <a:p>
            <a:pPr algn="just">
              <a:lnSpc>
                <a:spcPct val="107000"/>
              </a:lnSpc>
              <a:spcBef>
                <a:spcPts val="750"/>
              </a:spcBef>
            </a:pPr>
            <a:endParaRPr lang="es-CO" dirty="0"/>
          </a:p>
          <a:p>
            <a:pPr algn="just">
              <a:lnSpc>
                <a:spcPct val="107000"/>
              </a:lnSpc>
              <a:spcBef>
                <a:spcPts val="750"/>
              </a:spcBef>
            </a:pPr>
            <a:endParaRPr lang="es-CO" dirty="0"/>
          </a:p>
          <a:p>
            <a:pPr algn="just">
              <a:lnSpc>
                <a:spcPct val="107000"/>
              </a:lnSpc>
              <a:spcBef>
                <a:spcPts val="750"/>
              </a:spcBef>
            </a:pPr>
            <a:endParaRPr lang="es-CO" dirty="0"/>
          </a:p>
          <a:p>
            <a:pPr algn="just">
              <a:lnSpc>
                <a:spcPct val="107000"/>
              </a:lnSpc>
              <a:spcBef>
                <a:spcPts val="750"/>
              </a:spcBef>
            </a:pPr>
            <a:endParaRPr lang="es-CO" dirty="0"/>
          </a:p>
          <a:p>
            <a:pPr algn="just">
              <a:lnSpc>
                <a:spcPct val="107000"/>
              </a:lnSpc>
              <a:spcBef>
                <a:spcPts val="750"/>
              </a:spcBef>
            </a:pPr>
            <a:endParaRPr lang="es-CO" dirty="0"/>
          </a:p>
        </p:txBody>
      </p:sp>
    </p:spTree>
    <p:extLst>
      <p:ext uri="{BB962C8B-B14F-4D97-AF65-F5344CB8AC3E}">
        <p14:creationId xmlns:p14="http://schemas.microsoft.com/office/powerpoint/2010/main" val="80327510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txBox="1">
            <a:spLocks/>
          </p:cNvSpPr>
          <p:nvPr/>
        </p:nvSpPr>
        <p:spPr>
          <a:xfrm>
            <a:off x="2540968" y="356129"/>
            <a:ext cx="7283152" cy="108012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CO" sz="2600" b="1" dirty="0">
                <a:solidFill>
                  <a:srgbClr val="003300"/>
                </a:solidFill>
                <a:latin typeface="Aharoni" pitchFamily="2" charset="-79"/>
                <a:cs typeface="Aharoni" pitchFamily="2" charset="-79"/>
              </a:rPr>
              <a:t>Propuesta para normalizar la cartera del impuesto de AP                              </a:t>
            </a:r>
          </a:p>
        </p:txBody>
      </p:sp>
      <p:sp>
        <p:nvSpPr>
          <p:cNvPr id="5" name="Rectángulo 4"/>
          <p:cNvSpPr/>
          <p:nvPr/>
        </p:nvSpPr>
        <p:spPr>
          <a:xfrm>
            <a:off x="1501200" y="1792378"/>
            <a:ext cx="8568952" cy="1881925"/>
          </a:xfrm>
          <a:prstGeom prst="rect">
            <a:avLst/>
          </a:prstGeom>
        </p:spPr>
        <p:txBody>
          <a:bodyPr wrap="square">
            <a:spAutoFit/>
          </a:bodyPr>
          <a:lstStyle/>
          <a:p>
            <a:pPr algn="just">
              <a:lnSpc>
                <a:spcPct val="107000"/>
              </a:lnSpc>
              <a:spcBef>
                <a:spcPts val="750"/>
              </a:spcBef>
            </a:pPr>
            <a:r>
              <a:rPr lang="es-CO" dirty="0" smtClean="0">
                <a:solidFill>
                  <a:srgbClr val="003300"/>
                </a:solidFill>
              </a:rPr>
              <a:t>Con respecto a los temas de cobertura, a continuación se muestra el proyecto de expansión del Municipio, que beneficia directamente al contribuyente Campollo.</a:t>
            </a:r>
            <a:endParaRPr lang="es-CO" dirty="0">
              <a:solidFill>
                <a:srgbClr val="003300"/>
              </a:solidFill>
            </a:endParaRPr>
          </a:p>
          <a:p>
            <a:pPr algn="just">
              <a:lnSpc>
                <a:spcPct val="107000"/>
              </a:lnSpc>
              <a:spcBef>
                <a:spcPts val="750"/>
              </a:spcBef>
            </a:pPr>
            <a:endParaRPr lang="es-CO" dirty="0"/>
          </a:p>
          <a:p>
            <a:pPr algn="just">
              <a:lnSpc>
                <a:spcPct val="107000"/>
              </a:lnSpc>
              <a:spcBef>
                <a:spcPts val="750"/>
              </a:spcBef>
            </a:pPr>
            <a:endParaRPr lang="es-CO" dirty="0"/>
          </a:p>
          <a:p>
            <a:pPr algn="just">
              <a:lnSpc>
                <a:spcPct val="107000"/>
              </a:lnSpc>
              <a:spcBef>
                <a:spcPts val="750"/>
              </a:spcBef>
            </a:pPr>
            <a:endParaRPr lang="es-CO" dirty="0"/>
          </a:p>
        </p:txBody>
      </p:sp>
      <p:pic>
        <p:nvPicPr>
          <p:cNvPr id="3" name="Imagen 2"/>
          <p:cNvPicPr>
            <a:picLocks noChangeAspect="1"/>
          </p:cNvPicPr>
          <p:nvPr/>
        </p:nvPicPr>
        <p:blipFill rotWithShape="1">
          <a:blip r:embed="rId2"/>
          <a:srcRect l="17991" t="10333" r="16228" b="16000"/>
          <a:stretch/>
        </p:blipFill>
        <p:spPr>
          <a:xfrm>
            <a:off x="1501200" y="2554100"/>
            <a:ext cx="7676629" cy="4147146"/>
          </a:xfrm>
          <a:prstGeom prst="rect">
            <a:avLst/>
          </a:prstGeom>
        </p:spPr>
      </p:pic>
      <p:sp>
        <p:nvSpPr>
          <p:cNvPr id="6" name="Rectángulo 5"/>
          <p:cNvSpPr/>
          <p:nvPr/>
        </p:nvSpPr>
        <p:spPr>
          <a:xfrm>
            <a:off x="9290954" y="3719732"/>
            <a:ext cx="2548349" cy="2031325"/>
          </a:xfrm>
          <a:prstGeom prst="rect">
            <a:avLst/>
          </a:prstGeom>
        </p:spPr>
        <p:txBody>
          <a:bodyPr wrap="square">
            <a:spAutoFit/>
          </a:bodyPr>
          <a:lstStyle/>
          <a:p>
            <a:pPr algn="just"/>
            <a:r>
              <a:rPr lang="es-CO" sz="1400" dirty="0" smtClean="0">
                <a:solidFill>
                  <a:srgbClr val="003300"/>
                </a:solidFill>
                <a:latin typeface="Arial" panose="020B0604020202020204" pitchFamily="34" charset="0"/>
                <a:ea typeface="Arial" panose="020B0604020202020204" pitchFamily="34" charset="0"/>
              </a:rPr>
              <a:t>La </a:t>
            </a:r>
            <a:r>
              <a:rPr lang="es-CO" sz="1400" dirty="0">
                <a:solidFill>
                  <a:srgbClr val="003300"/>
                </a:solidFill>
                <a:latin typeface="Arial" panose="020B0604020202020204" pitchFamily="34" charset="0"/>
                <a:ea typeface="Arial" panose="020B0604020202020204" pitchFamily="34" charset="0"/>
              </a:rPr>
              <a:t>infraestructura de iluminación de alumbrado público en el tramo de la vía a Campollo en el Municipio de Arjona, </a:t>
            </a:r>
            <a:r>
              <a:rPr lang="es-CO" sz="1400" dirty="0" smtClean="0">
                <a:solidFill>
                  <a:srgbClr val="003300"/>
                </a:solidFill>
                <a:latin typeface="Arial" panose="020B0604020202020204" pitchFamily="34" charset="0"/>
                <a:ea typeface="Arial" panose="020B0604020202020204" pitchFamily="34" charset="0"/>
              </a:rPr>
              <a:t>constará de </a:t>
            </a:r>
            <a:r>
              <a:rPr lang="es-CO" sz="1400" dirty="0">
                <a:solidFill>
                  <a:srgbClr val="003300"/>
                </a:solidFill>
                <a:latin typeface="Arial" panose="020B0604020202020204" pitchFamily="34" charset="0"/>
                <a:ea typeface="Arial" panose="020B0604020202020204" pitchFamily="34" charset="0"/>
              </a:rPr>
              <a:t>85 luminarias </a:t>
            </a:r>
            <a:r>
              <a:rPr lang="es-CO" sz="1400" dirty="0" smtClean="0">
                <a:solidFill>
                  <a:srgbClr val="003300"/>
                </a:solidFill>
                <a:latin typeface="Arial" panose="020B0604020202020204" pitchFamily="34" charset="0"/>
                <a:ea typeface="Arial" panose="020B0604020202020204" pitchFamily="34" charset="0"/>
              </a:rPr>
              <a:t>ubicadas </a:t>
            </a:r>
            <a:r>
              <a:rPr lang="es-CO" sz="1400" dirty="0">
                <a:solidFill>
                  <a:srgbClr val="003300"/>
                </a:solidFill>
                <a:latin typeface="Arial" panose="020B0604020202020204" pitchFamily="34" charset="0"/>
                <a:ea typeface="Arial" panose="020B0604020202020204" pitchFamily="34" charset="0"/>
              </a:rPr>
              <a:t>a lo largo del </a:t>
            </a:r>
            <a:r>
              <a:rPr lang="es-CO" sz="1400" dirty="0" smtClean="0">
                <a:solidFill>
                  <a:srgbClr val="003300"/>
                </a:solidFill>
                <a:latin typeface="Arial" panose="020B0604020202020204" pitchFamily="34" charset="0"/>
                <a:ea typeface="Arial" panose="020B0604020202020204" pitchFamily="34" charset="0"/>
              </a:rPr>
              <a:t>trayecto por un valor de $425 millones de pesos más </a:t>
            </a:r>
            <a:r>
              <a:rPr lang="es-CO" sz="1400" dirty="0" err="1" smtClean="0">
                <a:solidFill>
                  <a:srgbClr val="003300"/>
                </a:solidFill>
                <a:latin typeface="Arial" panose="020B0604020202020204" pitchFamily="34" charset="0"/>
                <a:ea typeface="Arial" panose="020B0604020202020204" pitchFamily="34" charset="0"/>
              </a:rPr>
              <a:t>iva</a:t>
            </a:r>
            <a:r>
              <a:rPr lang="es-CO" sz="1400" dirty="0" smtClean="0">
                <a:solidFill>
                  <a:srgbClr val="003300"/>
                </a:solidFill>
                <a:latin typeface="Arial" panose="020B0604020202020204" pitchFamily="34" charset="0"/>
                <a:ea typeface="Arial" panose="020B0604020202020204" pitchFamily="34" charset="0"/>
              </a:rPr>
              <a:t>.</a:t>
            </a:r>
            <a:endParaRPr lang="en-US" sz="1400" b="1" dirty="0">
              <a:solidFill>
                <a:srgbClr val="003300"/>
              </a:solidFill>
            </a:endParaRPr>
          </a:p>
        </p:txBody>
      </p:sp>
    </p:spTree>
    <p:extLst>
      <p:ext uri="{BB962C8B-B14F-4D97-AF65-F5344CB8AC3E}">
        <p14:creationId xmlns:p14="http://schemas.microsoft.com/office/powerpoint/2010/main" val="88991626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txBox="1">
            <a:spLocks/>
          </p:cNvSpPr>
          <p:nvPr/>
        </p:nvSpPr>
        <p:spPr>
          <a:xfrm>
            <a:off x="901337" y="395317"/>
            <a:ext cx="10554789" cy="108012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CO" sz="2600" b="1" dirty="0" smtClean="0">
                <a:solidFill>
                  <a:srgbClr val="003300"/>
                </a:solidFill>
                <a:latin typeface="Aharoni" pitchFamily="2" charset="-79"/>
                <a:cs typeface="Aharoni" pitchFamily="2" charset="-79"/>
              </a:rPr>
              <a:t>Respuesta de Campollo SAS a la propuesta de normalización</a:t>
            </a:r>
            <a:endParaRPr lang="es-CO" sz="2600" b="1" dirty="0">
              <a:solidFill>
                <a:srgbClr val="003300"/>
              </a:solidFill>
              <a:latin typeface="Aharoni" pitchFamily="2" charset="-79"/>
              <a:cs typeface="Aharoni" pitchFamily="2" charset="-79"/>
            </a:endParaRPr>
          </a:p>
        </p:txBody>
      </p:sp>
      <p:pic>
        <p:nvPicPr>
          <p:cNvPr id="5" name="Imagen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7176" y="1629227"/>
            <a:ext cx="3921578" cy="4915263"/>
          </a:xfrm>
          <a:prstGeom prst="rect">
            <a:avLst/>
          </a:prstGeom>
        </p:spPr>
      </p:pic>
      <p:sp>
        <p:nvSpPr>
          <p:cNvPr id="6" name="Rectángulo 5"/>
          <p:cNvSpPr/>
          <p:nvPr/>
        </p:nvSpPr>
        <p:spPr>
          <a:xfrm>
            <a:off x="5150027" y="2818400"/>
            <a:ext cx="5731332" cy="1169551"/>
          </a:xfrm>
          <a:prstGeom prst="rect">
            <a:avLst/>
          </a:prstGeom>
        </p:spPr>
        <p:txBody>
          <a:bodyPr wrap="square">
            <a:spAutoFit/>
          </a:bodyPr>
          <a:lstStyle/>
          <a:p>
            <a:pPr algn="just"/>
            <a:r>
              <a:rPr lang="es-CO" sz="1400" dirty="0" smtClean="0">
                <a:solidFill>
                  <a:srgbClr val="003300"/>
                </a:solidFill>
                <a:latin typeface="Arial" panose="020B0604020202020204" pitchFamily="34" charset="0"/>
                <a:ea typeface="Arial" panose="020B0604020202020204" pitchFamily="34" charset="0"/>
              </a:rPr>
              <a:t>Luego de la reunión realizada el 15 de noviembre, las directivas de la multinacional, enviaron esta comunicación, la cual no permitió seguir con la gestión de normalización de deuda del impuesto de alumbrado público debido a la transición de administración por finalización de mandato.</a:t>
            </a:r>
          </a:p>
        </p:txBody>
      </p:sp>
    </p:spTree>
    <p:extLst>
      <p:ext uri="{BB962C8B-B14F-4D97-AF65-F5344CB8AC3E}">
        <p14:creationId xmlns:p14="http://schemas.microsoft.com/office/powerpoint/2010/main" val="1806372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1 Título"/>
          <p:cNvSpPr txBox="1">
            <a:spLocks/>
          </p:cNvSpPr>
          <p:nvPr/>
        </p:nvSpPr>
        <p:spPr>
          <a:xfrm>
            <a:off x="686043" y="356128"/>
            <a:ext cx="10339008" cy="108012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CO" sz="2600" b="1" dirty="0" smtClean="0">
                <a:solidFill>
                  <a:srgbClr val="003300"/>
                </a:solidFill>
                <a:latin typeface="Aharoni" pitchFamily="2" charset="-79"/>
                <a:cs typeface="Aharoni" pitchFamily="2" charset="-79"/>
              </a:rPr>
              <a:t>Propuesta estrategia Campollo 2020</a:t>
            </a:r>
            <a:endParaRPr lang="es-CO" sz="2600" b="1" dirty="0">
              <a:solidFill>
                <a:srgbClr val="003300"/>
              </a:solidFill>
              <a:latin typeface="Aharoni" pitchFamily="2" charset="-79"/>
              <a:cs typeface="Aharoni" pitchFamily="2" charset="-79"/>
            </a:endParaRPr>
          </a:p>
        </p:txBody>
      </p:sp>
      <p:sp>
        <p:nvSpPr>
          <p:cNvPr id="8" name="Elipse 7"/>
          <p:cNvSpPr/>
          <p:nvPr/>
        </p:nvSpPr>
        <p:spPr>
          <a:xfrm>
            <a:off x="4899176" y="1638215"/>
            <a:ext cx="2360991" cy="20324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smtClean="0">
                <a:solidFill>
                  <a:srgbClr val="003300"/>
                </a:solidFill>
                <a:latin typeface="Arial" panose="020B0604020202020204" pitchFamily="34" charset="0"/>
              </a:rPr>
              <a:t>Nuevo acercamiento nueva administración</a:t>
            </a:r>
            <a:endParaRPr lang="en-US" dirty="0"/>
          </a:p>
        </p:txBody>
      </p:sp>
      <p:sp>
        <p:nvSpPr>
          <p:cNvPr id="14" name="Elipse 13"/>
          <p:cNvSpPr/>
          <p:nvPr/>
        </p:nvSpPr>
        <p:spPr>
          <a:xfrm>
            <a:off x="1889578" y="3090645"/>
            <a:ext cx="2360991" cy="159400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smtClean="0">
                <a:solidFill>
                  <a:srgbClr val="003300"/>
                </a:solidFill>
                <a:latin typeface="Arial" panose="020B0604020202020204" pitchFamily="34" charset="0"/>
              </a:rPr>
              <a:t>Tocar el frente </a:t>
            </a:r>
            <a:r>
              <a:rPr lang="es-CO" dirty="0" err="1" smtClean="0">
                <a:solidFill>
                  <a:srgbClr val="003300"/>
                </a:solidFill>
                <a:latin typeface="Arial" panose="020B0604020202020204" pitchFamily="34" charset="0"/>
              </a:rPr>
              <a:t>reputacional</a:t>
            </a:r>
            <a:endParaRPr lang="en-US" dirty="0"/>
          </a:p>
        </p:txBody>
      </p:sp>
      <p:sp>
        <p:nvSpPr>
          <p:cNvPr id="15" name="Elipse 14"/>
          <p:cNvSpPr/>
          <p:nvPr/>
        </p:nvSpPr>
        <p:spPr>
          <a:xfrm>
            <a:off x="7786673" y="2889010"/>
            <a:ext cx="2360991" cy="159400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smtClean="0">
                <a:solidFill>
                  <a:srgbClr val="003300"/>
                </a:solidFill>
                <a:latin typeface="Arial" panose="020B0604020202020204" pitchFamily="34" charset="0"/>
              </a:rPr>
              <a:t>Activar cobro coactivo</a:t>
            </a:r>
            <a:endParaRPr lang="en-US" dirty="0"/>
          </a:p>
        </p:txBody>
      </p:sp>
      <p:sp>
        <p:nvSpPr>
          <p:cNvPr id="16" name="Elipse 15"/>
          <p:cNvSpPr/>
          <p:nvPr/>
        </p:nvSpPr>
        <p:spPr>
          <a:xfrm>
            <a:off x="5062644" y="4665892"/>
            <a:ext cx="2360991" cy="159400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smtClean="0">
                <a:solidFill>
                  <a:srgbClr val="003300"/>
                </a:solidFill>
                <a:latin typeface="Arial" panose="020B0604020202020204" pitchFamily="34" charset="0"/>
              </a:rPr>
              <a:t>Frente mediático</a:t>
            </a:r>
            <a:endParaRPr lang="en-US" dirty="0"/>
          </a:p>
        </p:txBody>
      </p:sp>
      <p:cxnSp>
        <p:nvCxnSpPr>
          <p:cNvPr id="17" name="Conector recto de flecha 16"/>
          <p:cNvCxnSpPr>
            <a:endCxn id="15" idx="1"/>
          </p:cNvCxnSpPr>
          <p:nvPr/>
        </p:nvCxnSpPr>
        <p:spPr>
          <a:xfrm>
            <a:off x="7260167" y="2677886"/>
            <a:ext cx="872265" cy="4445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ector recto 18"/>
          <p:cNvCxnSpPr>
            <a:stCxn id="8" idx="2"/>
            <a:endCxn id="14" idx="7"/>
          </p:cNvCxnSpPr>
          <p:nvPr/>
        </p:nvCxnSpPr>
        <p:spPr>
          <a:xfrm flipH="1">
            <a:off x="3904810" y="2654439"/>
            <a:ext cx="994366" cy="669642"/>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Conector recto de flecha 21"/>
          <p:cNvCxnSpPr>
            <a:stCxn id="8" idx="4"/>
            <a:endCxn id="16" idx="0"/>
          </p:cNvCxnSpPr>
          <p:nvPr/>
        </p:nvCxnSpPr>
        <p:spPr>
          <a:xfrm>
            <a:off x="6079672" y="3670662"/>
            <a:ext cx="163468" cy="9952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14165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p:cNvSpPr/>
          <p:nvPr/>
        </p:nvSpPr>
        <p:spPr>
          <a:xfrm>
            <a:off x="5487403" y="3244335"/>
            <a:ext cx="4079386" cy="584775"/>
          </a:xfrm>
          <a:prstGeom prst="rect">
            <a:avLst/>
          </a:prstGeom>
        </p:spPr>
        <p:txBody>
          <a:bodyPr wrap="none">
            <a:spAutoFit/>
          </a:bodyPr>
          <a:lstStyle/>
          <a:p>
            <a:r>
              <a:rPr lang="es-CO" sz="3200" dirty="0">
                <a:solidFill>
                  <a:srgbClr val="003300"/>
                </a:solidFill>
              </a:rPr>
              <a:t>Gracias por su atención</a:t>
            </a:r>
            <a:endParaRPr lang="en-US" sz="3200" dirty="0">
              <a:solidFill>
                <a:srgbClr val="003300"/>
              </a:solidFill>
            </a:endParaRPr>
          </a:p>
        </p:txBody>
      </p:sp>
    </p:spTree>
    <p:extLst>
      <p:ext uri="{BB962C8B-B14F-4D97-AF65-F5344CB8AC3E}">
        <p14:creationId xmlns:p14="http://schemas.microsoft.com/office/powerpoint/2010/main" val="520674320"/>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3405</TotalTime>
  <Words>829</Words>
  <Application>Microsoft Office PowerPoint</Application>
  <PresentationFormat>Panorámica</PresentationFormat>
  <Paragraphs>57</Paragraphs>
  <Slides>13</Slides>
  <Notes>2</Notes>
  <HiddenSlides>0</HiddenSlides>
  <MMClips>0</MMClips>
  <ScaleCrop>false</ScaleCrop>
  <HeadingPairs>
    <vt:vector size="8" baseType="variant">
      <vt:variant>
        <vt:lpstr>Fuentes usadas</vt:lpstr>
      </vt:variant>
      <vt:variant>
        <vt:i4>4</vt:i4>
      </vt:variant>
      <vt:variant>
        <vt:lpstr>Tema</vt:lpstr>
      </vt:variant>
      <vt:variant>
        <vt:i4>1</vt:i4>
      </vt:variant>
      <vt:variant>
        <vt:lpstr>Servidores OLE incrustados</vt:lpstr>
      </vt:variant>
      <vt:variant>
        <vt:i4>1</vt:i4>
      </vt:variant>
      <vt:variant>
        <vt:lpstr>Títulos de diapositiva</vt:lpstr>
      </vt:variant>
      <vt:variant>
        <vt:i4>13</vt:i4>
      </vt:variant>
    </vt:vector>
  </HeadingPairs>
  <TitlesOfParts>
    <vt:vector size="19" baseType="lpstr">
      <vt:lpstr>Aharoni</vt:lpstr>
      <vt:lpstr>Arial</vt:lpstr>
      <vt:lpstr>Calibri</vt:lpstr>
      <vt:lpstr>Calibri Light</vt:lpstr>
      <vt:lpstr>Tema de Office</vt:lpstr>
      <vt:lpstr>Hoja de cálculo</vt:lpstr>
      <vt:lpstr>Estrategia Campollo SAS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Reunión Contribuyente Campollo</dc:title>
  <dc:creator>DELL</dc:creator>
  <cp:lastModifiedBy>Daniela Rua</cp:lastModifiedBy>
  <cp:revision>32</cp:revision>
  <dcterms:created xsi:type="dcterms:W3CDTF">2019-11-13T20:19:45Z</dcterms:created>
  <dcterms:modified xsi:type="dcterms:W3CDTF">2020-01-22T16:00:18Z</dcterms:modified>
</cp:coreProperties>
</file>